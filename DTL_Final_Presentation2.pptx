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1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70" r:id="rId15"/>
    <p:sldId id="269" r:id="rId16"/>
  </p:sldIdLst>
  <p:sldSz cx="18288000" cy="10287000"/>
  <p:notesSz cx="6858000" cy="9144000"/>
  <p:embeddedFontLst>
    <p:embeddedFont>
      <p:font typeface="Bricolage Grotesque Bold" panose="020B0604020202020204" charset="0"/>
      <p:regular r:id="rId18"/>
    </p:embeddedFont>
    <p:embeddedFont>
      <p:font typeface="Bugaki" panose="020B0604020202020204" charset="0"/>
      <p:regular r:id="rId19"/>
    </p:embeddedFont>
    <p:embeddedFont>
      <p:font typeface="Calibri (MS) Bold" panose="020B0604020202020204" charset="0"/>
      <p:regular r:id="rId20"/>
    </p:embeddedFont>
    <p:embeddedFont>
      <p:font typeface="Now" panose="020B0604020202020204" charset="0"/>
      <p:regular r:id="rId21"/>
    </p:embeddedFont>
    <p:embeddedFont>
      <p:font typeface="Open Sauce" panose="020B0604020202020204" charset="0"/>
      <p:regular r:id="rId22"/>
    </p:embeddedFont>
    <p:embeddedFont>
      <p:font typeface="Open Sauce Bold" panose="020B0604020202020204" charset="0"/>
      <p:regular r:id="rId23"/>
    </p:embeddedFont>
    <p:embeddedFont>
      <p:font typeface="Poppins" panose="00000500000000000000" pitchFamily="2" charset="0"/>
      <p:regular r:id="rId24"/>
      <p:bold r:id="rId25"/>
    </p:embeddedFont>
    <p:embeddedFont>
      <p:font typeface="Poppins Bold" panose="00000800000000000000" charset="0"/>
      <p:regular r:id="rId26"/>
    </p:embeddedFont>
    <p:embeddedFont>
      <p:font typeface="Times New Roman Bold" panose="02020803070505020304" pitchFamily="18" charset="0"/>
      <p:regular r:id="rId27"/>
      <p:bold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36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14.07.2026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14-Jul-26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14-Jul-26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2.png"/><Relationship Id="rId4" Type="http://schemas.openxmlformats.org/officeDocument/2006/relationships/image" Target="../media/image3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050" y="3810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4" b="-1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31997" y="431997"/>
            <a:ext cx="3015329" cy="1295972"/>
            <a:chOff x="0" y="0"/>
            <a:chExt cx="4020439" cy="172796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020439" cy="1727962"/>
            </a:xfrm>
            <a:custGeom>
              <a:avLst/>
              <a:gdLst/>
              <a:ahLst/>
              <a:cxnLst/>
              <a:rect l="l" t="t" r="r" b="b"/>
              <a:pathLst>
                <a:path w="4020439" h="1727962">
                  <a:moveTo>
                    <a:pt x="0" y="0"/>
                  </a:moveTo>
                  <a:lnTo>
                    <a:pt x="4020439" y="0"/>
                  </a:lnTo>
                  <a:lnTo>
                    <a:pt x="4020439" y="1727962"/>
                  </a:lnTo>
                  <a:lnTo>
                    <a:pt x="0" y="17279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1" r="-6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6926428" y="9460106"/>
            <a:ext cx="4435126" cy="674465"/>
            <a:chOff x="0" y="0"/>
            <a:chExt cx="5913501" cy="89928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913501" cy="899287"/>
            </a:xfrm>
            <a:custGeom>
              <a:avLst/>
              <a:gdLst/>
              <a:ahLst/>
              <a:cxnLst/>
              <a:rect l="l" t="t" r="r" b="b"/>
              <a:pathLst>
                <a:path w="5913501" h="899287">
                  <a:moveTo>
                    <a:pt x="0" y="0"/>
                  </a:moveTo>
                  <a:lnTo>
                    <a:pt x="5913501" y="0"/>
                  </a:lnTo>
                  <a:lnTo>
                    <a:pt x="5913501" y="899287"/>
                  </a:lnTo>
                  <a:lnTo>
                    <a:pt x="0" y="8992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32" b="-132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930403" y="1592532"/>
            <a:ext cx="13652497" cy="807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800" b="1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 of Master of Computer Applications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712444" y="2555196"/>
            <a:ext cx="13220700" cy="684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>
                <a:solidFill>
                  <a:srgbClr val="00589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Thinking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76634" y="3675336"/>
            <a:ext cx="925376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 b="1" dirty="0">
                <a:solidFill>
                  <a:srgbClr val="00589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Efficient Beekeeping and Hive Box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158625" y="4768339"/>
            <a:ext cx="9970751" cy="151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Pavan Mohan Naik</a:t>
            </a:r>
          </a:p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Sumanth Bhaskar Hegde</a:t>
            </a:r>
          </a:p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Pramath Prakash Hegde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47775" y="6787982"/>
            <a:ext cx="15792450" cy="2543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</a:t>
            </a:r>
          </a:p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</a:t>
            </a:r>
          </a:p>
          <a:p>
            <a:pPr algn="ctr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Dr. Mohan Aradhya</a:t>
            </a:r>
          </a:p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Professor</a:t>
            </a:r>
          </a:p>
          <a:p>
            <a:pPr algn="ctr">
              <a:lnSpc>
                <a:spcPts val="3840"/>
              </a:lnSpc>
            </a:pPr>
            <a:endParaRPr lang="en-US" sz="3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13967203" y="830351"/>
            <a:ext cx="3948112" cy="600361"/>
            <a:chOff x="0" y="0"/>
            <a:chExt cx="5264150" cy="80048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264150" cy="800481"/>
            </a:xfrm>
            <a:custGeom>
              <a:avLst/>
              <a:gdLst/>
              <a:ahLst/>
              <a:cxnLst/>
              <a:rect l="l" t="t" r="r" b="b"/>
              <a:pathLst>
                <a:path w="5264150" h="800481">
                  <a:moveTo>
                    <a:pt x="0" y="0"/>
                  </a:moveTo>
                  <a:lnTo>
                    <a:pt x="5264150" y="0"/>
                  </a:lnTo>
                  <a:lnTo>
                    <a:pt x="5264150" y="800481"/>
                  </a:lnTo>
                  <a:lnTo>
                    <a:pt x="0" y="800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36" b="-136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DB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39520" y="1140362"/>
            <a:ext cx="3862616" cy="3556921"/>
            <a:chOff x="0" y="0"/>
            <a:chExt cx="5150155" cy="4742561"/>
          </a:xfrm>
        </p:grpSpPr>
        <p:sp>
          <p:nvSpPr>
            <p:cNvPr id="3" name="Freeform 3"/>
            <p:cNvSpPr/>
            <p:nvPr/>
          </p:nvSpPr>
          <p:spPr>
            <a:xfrm>
              <a:off x="22" y="6"/>
              <a:ext cx="5150090" cy="4742574"/>
            </a:xfrm>
            <a:custGeom>
              <a:avLst/>
              <a:gdLst/>
              <a:ahLst/>
              <a:cxnLst/>
              <a:rect l="l" t="t" r="r" b="b"/>
              <a:pathLst>
                <a:path w="5150090" h="4742574">
                  <a:moveTo>
                    <a:pt x="4879953" y="1658233"/>
                  </a:moveTo>
                  <a:cubicBezTo>
                    <a:pt x="4424912" y="773551"/>
                    <a:pt x="3507845" y="125089"/>
                    <a:pt x="2530707" y="23235"/>
                  </a:cubicBezTo>
                  <a:cubicBezTo>
                    <a:pt x="1733401" y="-99066"/>
                    <a:pt x="1208764" y="276600"/>
                    <a:pt x="780266" y="793998"/>
                  </a:cubicBezTo>
                  <a:cubicBezTo>
                    <a:pt x="351768" y="1311396"/>
                    <a:pt x="124057" y="1970653"/>
                    <a:pt x="32109" y="2635879"/>
                  </a:cubicBezTo>
                  <a:cubicBezTo>
                    <a:pt x="-16532" y="2987034"/>
                    <a:pt x="-26438" y="3359525"/>
                    <a:pt x="122533" y="3681470"/>
                  </a:cubicBezTo>
                  <a:cubicBezTo>
                    <a:pt x="311128" y="4089521"/>
                    <a:pt x="723370" y="4349109"/>
                    <a:pt x="1142978" y="4510653"/>
                  </a:cubicBezTo>
                  <a:cubicBezTo>
                    <a:pt x="2271627" y="4944866"/>
                    <a:pt x="3657324" y="4776591"/>
                    <a:pt x="4535656" y="3944741"/>
                  </a:cubicBezTo>
                  <a:cubicBezTo>
                    <a:pt x="4810484" y="3684518"/>
                    <a:pt x="5035655" y="3358509"/>
                    <a:pt x="5116173" y="2988558"/>
                  </a:cubicBezTo>
                  <a:cubicBezTo>
                    <a:pt x="5213836" y="2539740"/>
                    <a:pt x="5090011" y="2066792"/>
                    <a:pt x="4879953" y="1658233"/>
                  </a:cubicBezTo>
                  <a:close/>
                </a:path>
              </a:pathLst>
            </a:custGeom>
            <a:blipFill>
              <a:blip r:embed="rId2"/>
              <a:stretch>
                <a:fillRect t="-4297" b="-429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025675" y="1306601"/>
            <a:ext cx="3658810" cy="3667573"/>
            <a:chOff x="0" y="0"/>
            <a:chExt cx="4878413" cy="4890097"/>
          </a:xfrm>
        </p:grpSpPr>
        <p:sp>
          <p:nvSpPr>
            <p:cNvPr id="5" name="Freeform 5"/>
            <p:cNvSpPr/>
            <p:nvPr/>
          </p:nvSpPr>
          <p:spPr>
            <a:xfrm>
              <a:off x="-30" y="-35"/>
              <a:ext cx="4878472" cy="4890118"/>
            </a:xfrm>
            <a:custGeom>
              <a:avLst/>
              <a:gdLst/>
              <a:ahLst/>
              <a:cxnLst/>
              <a:rect l="l" t="t" r="r" b="b"/>
              <a:pathLst>
                <a:path w="4878472" h="4890118">
                  <a:moveTo>
                    <a:pt x="3048284" y="131353"/>
                  </a:moveTo>
                  <a:cubicBezTo>
                    <a:pt x="4088160" y="276387"/>
                    <a:pt x="5392704" y="679485"/>
                    <a:pt x="4669566" y="2501173"/>
                  </a:cubicBezTo>
                  <a:cubicBezTo>
                    <a:pt x="3946428" y="4322861"/>
                    <a:pt x="2449225" y="4646203"/>
                    <a:pt x="1726087" y="4845593"/>
                  </a:cubicBezTo>
                  <a:cubicBezTo>
                    <a:pt x="1002949" y="5044983"/>
                    <a:pt x="153573" y="4571019"/>
                    <a:pt x="453674" y="3497869"/>
                  </a:cubicBezTo>
                  <a:cubicBezTo>
                    <a:pt x="716056" y="2558831"/>
                    <a:pt x="-70201" y="1378366"/>
                    <a:pt x="5110" y="605317"/>
                  </a:cubicBezTo>
                  <a:cubicBezTo>
                    <a:pt x="80421" y="-167732"/>
                    <a:pt x="1800255" y="-43526"/>
                    <a:pt x="3048284" y="131353"/>
                  </a:cubicBezTo>
                  <a:close/>
                </a:path>
              </a:pathLst>
            </a:custGeom>
            <a:blipFill>
              <a:blip r:embed="rId3"/>
              <a:stretch>
                <a:fillRect l="-119" r="-119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038080" y="1261662"/>
            <a:ext cx="3946236" cy="3662782"/>
            <a:chOff x="0" y="0"/>
            <a:chExt cx="5261648" cy="4883709"/>
          </a:xfrm>
        </p:grpSpPr>
        <p:sp>
          <p:nvSpPr>
            <p:cNvPr id="7" name="Freeform 7"/>
            <p:cNvSpPr/>
            <p:nvPr/>
          </p:nvSpPr>
          <p:spPr>
            <a:xfrm>
              <a:off x="24" y="0"/>
              <a:ext cx="5261743" cy="4883736"/>
            </a:xfrm>
            <a:custGeom>
              <a:avLst/>
              <a:gdLst/>
              <a:ahLst/>
              <a:cxnLst/>
              <a:rect l="l" t="t" r="r" b="b"/>
              <a:pathLst>
                <a:path w="5261743" h="4883736">
                  <a:moveTo>
                    <a:pt x="4250793" y="398399"/>
                  </a:moveTo>
                  <a:cubicBezTo>
                    <a:pt x="3745714" y="80264"/>
                    <a:pt x="3610459" y="65786"/>
                    <a:pt x="3016988" y="0"/>
                  </a:cubicBezTo>
                  <a:cubicBezTo>
                    <a:pt x="1656437" y="16129"/>
                    <a:pt x="553442" y="802132"/>
                    <a:pt x="126595" y="2094230"/>
                  </a:cubicBezTo>
                  <a:cubicBezTo>
                    <a:pt x="-19455" y="2536190"/>
                    <a:pt x="-58317" y="3030474"/>
                    <a:pt x="113133" y="3463417"/>
                  </a:cubicBezTo>
                  <a:cubicBezTo>
                    <a:pt x="338431" y="4032123"/>
                    <a:pt x="898501" y="4417568"/>
                    <a:pt x="1490448" y="4572762"/>
                  </a:cubicBezTo>
                  <a:cubicBezTo>
                    <a:pt x="2082268" y="4728591"/>
                    <a:pt x="2734032" y="4942586"/>
                    <a:pt x="3340965" y="4868672"/>
                  </a:cubicBezTo>
                  <a:cubicBezTo>
                    <a:pt x="3814294" y="4811014"/>
                    <a:pt x="4286988" y="4464939"/>
                    <a:pt x="4641191" y="4145788"/>
                  </a:cubicBezTo>
                  <a:cubicBezTo>
                    <a:pt x="4876268" y="3933952"/>
                    <a:pt x="5022826" y="3640201"/>
                    <a:pt x="5120997" y="3339338"/>
                  </a:cubicBezTo>
                  <a:cubicBezTo>
                    <a:pt x="5463770" y="2292477"/>
                    <a:pt x="5182973" y="985901"/>
                    <a:pt x="4250920" y="398272"/>
                  </a:cubicBezTo>
                  <a:close/>
                </a:path>
              </a:pathLst>
            </a:custGeom>
            <a:blipFill>
              <a:blip r:embed="rId4"/>
              <a:stretch>
                <a:fillRect t="-3869" r="2" b="-386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0261102" y="1239679"/>
            <a:ext cx="3300479" cy="3683870"/>
            <a:chOff x="0" y="0"/>
            <a:chExt cx="4400639" cy="4911827"/>
          </a:xfrm>
        </p:grpSpPr>
        <p:sp>
          <p:nvSpPr>
            <p:cNvPr id="9" name="Freeform 9"/>
            <p:cNvSpPr/>
            <p:nvPr/>
          </p:nvSpPr>
          <p:spPr>
            <a:xfrm>
              <a:off x="-7" y="-20"/>
              <a:ext cx="4400748" cy="4911845"/>
            </a:xfrm>
            <a:custGeom>
              <a:avLst/>
              <a:gdLst/>
              <a:ahLst/>
              <a:cxnLst/>
              <a:rect l="l" t="t" r="r" b="b"/>
              <a:pathLst>
                <a:path w="4400748" h="4911845">
                  <a:moveTo>
                    <a:pt x="3372619" y="388132"/>
                  </a:moveTo>
                  <a:cubicBezTo>
                    <a:pt x="2745112" y="-42652"/>
                    <a:pt x="2013973" y="-104882"/>
                    <a:pt x="1366146" y="152039"/>
                  </a:cubicBezTo>
                  <a:cubicBezTo>
                    <a:pt x="915042" y="327045"/>
                    <a:pt x="503054" y="728492"/>
                    <a:pt x="252229" y="1303929"/>
                  </a:cubicBezTo>
                  <a:cubicBezTo>
                    <a:pt x="-56762" y="2011827"/>
                    <a:pt x="-93084" y="2978678"/>
                    <a:pt x="205747" y="3695593"/>
                  </a:cubicBezTo>
                  <a:cubicBezTo>
                    <a:pt x="418091" y="4204736"/>
                    <a:pt x="777628" y="4558685"/>
                    <a:pt x="1164978" y="4739279"/>
                  </a:cubicBezTo>
                  <a:cubicBezTo>
                    <a:pt x="1552328" y="4919873"/>
                    <a:pt x="1967491" y="4939050"/>
                    <a:pt x="2371986" y="4885964"/>
                  </a:cubicBezTo>
                  <a:cubicBezTo>
                    <a:pt x="2811914" y="4828306"/>
                    <a:pt x="3255906" y="4681621"/>
                    <a:pt x="3633096" y="4343420"/>
                  </a:cubicBezTo>
                  <a:cubicBezTo>
                    <a:pt x="4010286" y="4005219"/>
                    <a:pt x="4314705" y="3453531"/>
                    <a:pt x="4385063" y="2812816"/>
                  </a:cubicBezTo>
                  <a:cubicBezTo>
                    <a:pt x="4496315" y="1807611"/>
                    <a:pt x="4000761" y="819043"/>
                    <a:pt x="3372746" y="388259"/>
                  </a:cubicBezTo>
                  <a:close/>
                </a:path>
              </a:pathLst>
            </a:custGeom>
            <a:blipFill>
              <a:blip r:embed="rId5"/>
              <a:stretch>
                <a:fillRect l="-5807" r="-580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3080644" y="1248527"/>
            <a:ext cx="4178656" cy="3783120"/>
            <a:chOff x="0" y="0"/>
            <a:chExt cx="5571541" cy="5044161"/>
          </a:xfrm>
        </p:grpSpPr>
        <p:sp>
          <p:nvSpPr>
            <p:cNvPr id="11" name="Freeform 11"/>
            <p:cNvSpPr/>
            <p:nvPr/>
          </p:nvSpPr>
          <p:spPr>
            <a:xfrm>
              <a:off x="30" y="-45"/>
              <a:ext cx="5571541" cy="5044170"/>
            </a:xfrm>
            <a:custGeom>
              <a:avLst/>
              <a:gdLst/>
              <a:ahLst/>
              <a:cxnLst/>
              <a:rect l="l" t="t" r="r" b="b"/>
              <a:pathLst>
                <a:path w="5571541" h="5044170">
                  <a:moveTo>
                    <a:pt x="4702272" y="381934"/>
                  </a:moveTo>
                  <a:cubicBezTo>
                    <a:pt x="3932652" y="-21291"/>
                    <a:pt x="3217515" y="438957"/>
                    <a:pt x="2645634" y="438957"/>
                  </a:cubicBezTo>
                  <a:cubicBezTo>
                    <a:pt x="2201896" y="438957"/>
                    <a:pt x="1364966" y="-671785"/>
                    <a:pt x="365857" y="640506"/>
                  </a:cubicBezTo>
                  <a:cubicBezTo>
                    <a:pt x="-633252" y="1952797"/>
                    <a:pt x="611856" y="3187872"/>
                    <a:pt x="1731361" y="4266864"/>
                  </a:cubicBezTo>
                  <a:cubicBezTo>
                    <a:pt x="2850866" y="5345856"/>
                    <a:pt x="4372580" y="5328203"/>
                    <a:pt x="5251293" y="4046265"/>
                  </a:cubicBezTo>
                  <a:cubicBezTo>
                    <a:pt x="5844637" y="3181522"/>
                    <a:pt x="5586065" y="845992"/>
                    <a:pt x="4702272" y="381934"/>
                  </a:cubicBezTo>
                  <a:close/>
                </a:path>
              </a:pathLst>
            </a:custGeom>
            <a:blipFill>
              <a:blip r:embed="rId6"/>
              <a:stretch>
                <a:fillRect t="-5226" b="-5228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13623293" y="6424270"/>
            <a:ext cx="1064914" cy="745684"/>
          </a:xfrm>
          <a:custGeom>
            <a:avLst/>
            <a:gdLst/>
            <a:ahLst/>
            <a:cxnLst/>
            <a:rect l="l" t="t" r="r" b="b"/>
            <a:pathLst>
              <a:path w="1064914" h="745684">
                <a:moveTo>
                  <a:pt x="0" y="0"/>
                </a:moveTo>
                <a:lnTo>
                  <a:pt x="1064914" y="0"/>
                </a:lnTo>
                <a:lnTo>
                  <a:pt x="1064914" y="745683"/>
                </a:lnTo>
                <a:lnTo>
                  <a:pt x="0" y="7456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962025" y="5279298"/>
            <a:ext cx="9754591" cy="2769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29"/>
              </a:lnSpc>
            </a:pPr>
            <a:r>
              <a:rPr lang="en-US" sz="8684" b="1">
                <a:solidFill>
                  <a:srgbClr val="3E29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Complete</a:t>
            </a:r>
          </a:p>
          <a:p>
            <a:pPr algn="l">
              <a:lnSpc>
                <a:spcPts val="7729"/>
              </a:lnSpc>
            </a:pPr>
            <a:r>
              <a:rPr lang="en-US" sz="8684" b="1">
                <a:solidFill>
                  <a:srgbClr val="3E29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Design Journey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8142180"/>
            <a:ext cx="6562201" cy="1813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4"/>
              </a:lnSpc>
            </a:pPr>
            <a:r>
              <a:rPr lang="en-US" sz="4197">
                <a:solidFill>
                  <a:srgbClr val="3E291F"/>
                </a:solidFill>
                <a:latin typeface="Open Sauce"/>
                <a:ea typeface="Open Sauce"/>
                <a:cs typeface="Open Sauce"/>
                <a:sym typeface="Open Sauce"/>
              </a:rPr>
              <a:t>Efficient Beekeeping &amp; Hive Box  Empathize to Field-Ready Prototype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693359" y="5374824"/>
            <a:ext cx="3343408" cy="882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3"/>
              </a:lnSpc>
            </a:pPr>
            <a:r>
              <a:rPr lang="en-US" sz="2065">
                <a:solidFill>
                  <a:srgbClr val="3E291F"/>
                </a:solidFill>
                <a:latin typeface="Open Sauce"/>
                <a:ea typeface="Open Sauce"/>
                <a:cs typeface="Open Sauce"/>
                <a:sym typeface="Open Sauce"/>
              </a:rPr>
              <a:t>Final Project Presentation · Design Thinking Lab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127623" y="8625383"/>
            <a:ext cx="1214266" cy="655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1"/>
              </a:lnSpc>
            </a:pPr>
            <a:r>
              <a:rPr lang="en-US" sz="7181" b="1">
                <a:solidFill>
                  <a:srgbClr val="3E29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783800" y="8431139"/>
            <a:ext cx="2204523" cy="306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3197" b="1">
                <a:solidFill>
                  <a:srgbClr val="3E29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BeeHive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783800" y="8830894"/>
            <a:ext cx="2832487" cy="306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3197">
                <a:solidFill>
                  <a:srgbClr val="3E291F"/>
                </a:solidFill>
                <a:latin typeface="Open Sauce"/>
                <a:ea typeface="Open Sauce"/>
                <a:cs typeface="Open Sauce"/>
                <a:sym typeface="Open Sauce"/>
              </a:rPr>
              <a:t>Design Lab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402341" y="249574"/>
            <a:ext cx="3015329" cy="1295972"/>
            <a:chOff x="0" y="0"/>
            <a:chExt cx="4020439" cy="172796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020439" cy="1727962"/>
            </a:xfrm>
            <a:custGeom>
              <a:avLst/>
              <a:gdLst/>
              <a:ahLst/>
              <a:cxnLst/>
              <a:rect l="l" t="t" r="r" b="b"/>
              <a:pathLst>
                <a:path w="4020439" h="1727962">
                  <a:moveTo>
                    <a:pt x="0" y="0"/>
                  </a:moveTo>
                  <a:lnTo>
                    <a:pt x="4020439" y="0"/>
                  </a:lnTo>
                  <a:lnTo>
                    <a:pt x="4020439" y="1727962"/>
                  </a:lnTo>
                  <a:lnTo>
                    <a:pt x="0" y="17279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61" r="-61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13937547" y="647929"/>
            <a:ext cx="3948112" cy="600361"/>
            <a:chOff x="0" y="0"/>
            <a:chExt cx="5264150" cy="80048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264150" cy="800481"/>
            </a:xfrm>
            <a:custGeom>
              <a:avLst/>
              <a:gdLst/>
              <a:ahLst/>
              <a:cxnLst/>
              <a:rect l="l" t="t" r="r" b="b"/>
              <a:pathLst>
                <a:path w="5264150" h="800481">
                  <a:moveTo>
                    <a:pt x="0" y="0"/>
                  </a:moveTo>
                  <a:lnTo>
                    <a:pt x="5264150" y="0"/>
                  </a:lnTo>
                  <a:lnTo>
                    <a:pt x="5264150" y="800481"/>
                  </a:lnTo>
                  <a:lnTo>
                    <a:pt x="0" y="800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136" b="-136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9481" y="216404"/>
            <a:ext cx="4845066" cy="4845066"/>
          </a:xfrm>
          <a:custGeom>
            <a:avLst/>
            <a:gdLst/>
            <a:ahLst/>
            <a:cxnLst/>
            <a:rect l="l" t="t" r="r" b="b"/>
            <a:pathLst>
              <a:path w="4845066" h="4845066">
                <a:moveTo>
                  <a:pt x="0" y="0"/>
                </a:moveTo>
                <a:lnTo>
                  <a:pt x="4845066" y="0"/>
                </a:lnTo>
                <a:lnTo>
                  <a:pt x="4845066" y="4845067"/>
                </a:lnTo>
                <a:lnTo>
                  <a:pt x="0" y="48450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33541" y="1478701"/>
            <a:ext cx="4579135" cy="4611247"/>
          </a:xfrm>
          <a:custGeom>
            <a:avLst/>
            <a:gdLst/>
            <a:ahLst/>
            <a:cxnLst/>
            <a:rect l="l" t="t" r="r" b="b"/>
            <a:pathLst>
              <a:path w="4579135" h="4611247">
                <a:moveTo>
                  <a:pt x="0" y="0"/>
                </a:moveTo>
                <a:lnTo>
                  <a:pt x="4579135" y="0"/>
                </a:lnTo>
                <a:lnTo>
                  <a:pt x="4579135" y="4611247"/>
                </a:lnTo>
                <a:lnTo>
                  <a:pt x="0" y="46112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325599" y="8768713"/>
            <a:ext cx="441537" cy="679288"/>
          </a:xfrm>
          <a:custGeom>
            <a:avLst/>
            <a:gdLst/>
            <a:ahLst/>
            <a:cxnLst/>
            <a:rect l="l" t="t" r="r" b="b"/>
            <a:pathLst>
              <a:path w="441537" h="679288">
                <a:moveTo>
                  <a:pt x="0" y="0"/>
                </a:moveTo>
                <a:lnTo>
                  <a:pt x="441537" y="0"/>
                </a:lnTo>
                <a:lnTo>
                  <a:pt x="441537" y="679288"/>
                </a:lnTo>
                <a:lnTo>
                  <a:pt x="0" y="679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971678" y="8918656"/>
            <a:ext cx="441537" cy="679288"/>
          </a:xfrm>
          <a:custGeom>
            <a:avLst/>
            <a:gdLst/>
            <a:ahLst/>
            <a:cxnLst/>
            <a:rect l="l" t="t" r="r" b="b"/>
            <a:pathLst>
              <a:path w="441537" h="679288">
                <a:moveTo>
                  <a:pt x="0" y="0"/>
                </a:moveTo>
                <a:lnTo>
                  <a:pt x="441537" y="0"/>
                </a:lnTo>
                <a:lnTo>
                  <a:pt x="441537" y="679288"/>
                </a:lnTo>
                <a:lnTo>
                  <a:pt x="0" y="679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082626" y="2242374"/>
            <a:ext cx="5916532" cy="5916532"/>
          </a:xfrm>
          <a:custGeom>
            <a:avLst/>
            <a:gdLst/>
            <a:ahLst/>
            <a:cxnLst/>
            <a:rect l="l" t="t" r="r" b="b"/>
            <a:pathLst>
              <a:path w="5916532" h="5916532">
                <a:moveTo>
                  <a:pt x="0" y="0"/>
                </a:moveTo>
                <a:lnTo>
                  <a:pt x="5916532" y="0"/>
                </a:lnTo>
                <a:lnTo>
                  <a:pt x="5916532" y="5916533"/>
                </a:lnTo>
                <a:lnTo>
                  <a:pt x="0" y="59165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360891" y="6346630"/>
            <a:ext cx="3852482" cy="4114800"/>
          </a:xfrm>
          <a:custGeom>
            <a:avLst/>
            <a:gdLst/>
            <a:ahLst/>
            <a:cxnLst/>
            <a:rect l="l" t="t" r="r" b="b"/>
            <a:pathLst>
              <a:path w="3852482" h="4114800">
                <a:moveTo>
                  <a:pt x="0" y="0"/>
                </a:moveTo>
                <a:lnTo>
                  <a:pt x="3852481" y="0"/>
                </a:lnTo>
                <a:lnTo>
                  <a:pt x="38524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4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576606" y="2060675"/>
            <a:ext cx="881113" cy="947433"/>
          </a:xfrm>
          <a:custGeom>
            <a:avLst/>
            <a:gdLst/>
            <a:ahLst/>
            <a:cxnLst/>
            <a:rect l="l" t="t" r="r" b="b"/>
            <a:pathLst>
              <a:path w="881113" h="947433">
                <a:moveTo>
                  <a:pt x="0" y="0"/>
                </a:moveTo>
                <a:lnTo>
                  <a:pt x="881113" y="0"/>
                </a:lnTo>
                <a:lnTo>
                  <a:pt x="881113" y="947433"/>
                </a:lnTo>
                <a:lnTo>
                  <a:pt x="0" y="9474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6340320" y="308075"/>
            <a:ext cx="11317675" cy="1564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22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188" b="1" i="0" u="none" strike="noStrike" kern="1200" cap="none" spc="0" normalizeH="0" baseline="0" noProof="0" dirty="0">
                <a:ln>
                  <a:noFill/>
                </a:ln>
                <a:solidFill>
                  <a:srgbClr val="403C38"/>
                </a:solidFill>
                <a:effectLst/>
                <a:uLnTx/>
                <a:uFillTx/>
                <a:latin typeface="Bugaki"/>
                <a:ea typeface="Bugaki"/>
                <a:cs typeface="Bugaki"/>
                <a:sym typeface="Bugaki"/>
              </a:rPr>
              <a:t>OUR DATA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16303" y="8875672"/>
            <a:ext cx="4358838" cy="727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21" b="0" i="0" u="none" strike="noStrike" kern="1200" cap="none" spc="0" normalizeH="0" baseline="0" noProof="0">
                <a:ln>
                  <a:noFill/>
                </a:ln>
                <a:solidFill>
                  <a:srgbClr val="393736"/>
                </a:solidFill>
                <a:effectLst/>
                <a:uLnTx/>
                <a:uFillTx/>
                <a:latin typeface="Now"/>
                <a:ea typeface="Now"/>
                <a:cs typeface="Now"/>
                <a:sym typeface="Now"/>
              </a:rPr>
              <a:t>Contains Raw data and refined Results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051224" y="8911466"/>
            <a:ext cx="5388498" cy="355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21" b="0" i="0" u="none" strike="noStrike" kern="1200" cap="none" spc="0" normalizeH="0" baseline="0" noProof="0">
                <a:ln>
                  <a:noFill/>
                </a:ln>
                <a:solidFill>
                  <a:srgbClr val="393736"/>
                </a:solidFill>
                <a:effectLst/>
                <a:uLnTx/>
                <a:uFillTx/>
                <a:latin typeface="Now"/>
                <a:ea typeface="Now"/>
                <a:cs typeface="Now"/>
                <a:sym typeface="Now"/>
              </a:rPr>
              <a:t>Well Structured Repo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888921" y="635216"/>
            <a:ext cx="387460" cy="7768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909" b="1" i="0" u="none" strike="noStrike" kern="1200" cap="none" spc="0" normalizeH="0" baseline="0" noProof="0" dirty="0">
                <a:ln>
                  <a:noFill/>
                </a:ln>
                <a:solidFill>
                  <a:srgbClr val="403C38"/>
                </a:solidFill>
                <a:effectLst/>
                <a:uLnTx/>
                <a:uFillTx/>
                <a:latin typeface="Bugaki"/>
                <a:ea typeface="Bugaki"/>
                <a:cs typeface="Bugaki"/>
                <a:sym typeface="Bugaki"/>
              </a:rPr>
              <a:t>DOCUMENTATION</a:t>
            </a:r>
            <a:r>
              <a:rPr kumimoji="0" lang="en-US" sz="4909" b="0" i="0" u="none" strike="noStrike" kern="1200" cap="none" spc="0" normalizeH="0" baseline="0" noProof="0" dirty="0">
                <a:ln>
                  <a:noFill/>
                </a:ln>
                <a:solidFill>
                  <a:srgbClr val="403C38"/>
                </a:solidFill>
                <a:effectLst/>
                <a:uLnTx/>
                <a:uFillTx/>
                <a:latin typeface="Bugaki"/>
                <a:ea typeface="Bugaki"/>
                <a:cs typeface="Bugaki"/>
                <a:sym typeface="Bugaki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DB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5840" y="666750"/>
            <a:ext cx="1627632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1">
                <a:solidFill>
                  <a:srgbClr val="C8862B"/>
                </a:solidFill>
                <a:latin typeface="Poppins Bold"/>
                <a:ea typeface="Poppins Bold"/>
                <a:cs typeface="Poppins Bold"/>
                <a:sym typeface="Poppins Bold"/>
              </a:rPr>
              <a:t>OUR APPROACH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05840" y="1049655"/>
            <a:ext cx="16276320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 b="1">
                <a:solidFill>
                  <a:srgbClr val="3E291F"/>
                </a:solidFill>
                <a:latin typeface="Poppins Bold"/>
                <a:ea typeface="Poppins Bold"/>
                <a:cs typeface="Poppins Bold"/>
                <a:sym typeface="Poppins Bold"/>
              </a:rPr>
              <a:t>The Design Thinking Process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24128" y="1920240"/>
            <a:ext cx="2011680" cy="82296"/>
            <a:chOff x="0" y="0"/>
            <a:chExt cx="2682240" cy="10972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82240" cy="109728"/>
            </a:xfrm>
            <a:custGeom>
              <a:avLst/>
              <a:gdLst/>
              <a:ahLst/>
              <a:cxnLst/>
              <a:rect l="l" t="t" r="r" b="b"/>
              <a:pathLst>
                <a:path w="2682240" h="109728">
                  <a:moveTo>
                    <a:pt x="0" y="0"/>
                  </a:moveTo>
                  <a:lnTo>
                    <a:pt x="2682240" y="0"/>
                  </a:lnTo>
                  <a:lnTo>
                    <a:pt x="268224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C8862B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05840" y="2834640"/>
            <a:ext cx="2999232" cy="5120640"/>
            <a:chOff x="0" y="0"/>
            <a:chExt cx="3998976" cy="68275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998976" cy="6827520"/>
            </a:xfrm>
            <a:custGeom>
              <a:avLst/>
              <a:gdLst/>
              <a:ahLst/>
              <a:cxnLst/>
              <a:rect l="l" t="t" r="r" b="b"/>
              <a:pathLst>
                <a:path w="3998976" h="6827520">
                  <a:moveTo>
                    <a:pt x="0" y="666496"/>
                  </a:moveTo>
                  <a:cubicBezTo>
                    <a:pt x="0" y="298450"/>
                    <a:pt x="298450" y="0"/>
                    <a:pt x="666496" y="0"/>
                  </a:cubicBezTo>
                  <a:lnTo>
                    <a:pt x="3332480" y="0"/>
                  </a:lnTo>
                  <a:cubicBezTo>
                    <a:pt x="3700526" y="0"/>
                    <a:pt x="3998976" y="298450"/>
                    <a:pt x="3998976" y="666496"/>
                  </a:cubicBezTo>
                  <a:lnTo>
                    <a:pt x="3998976" y="6161024"/>
                  </a:lnTo>
                  <a:cubicBezTo>
                    <a:pt x="3998976" y="6529070"/>
                    <a:pt x="3700526" y="6827520"/>
                    <a:pt x="3332480" y="6827520"/>
                  </a:cubicBezTo>
                  <a:lnTo>
                    <a:pt x="666496" y="6827520"/>
                  </a:lnTo>
                  <a:cubicBezTo>
                    <a:pt x="298450" y="6827520"/>
                    <a:pt x="0" y="6529070"/>
                    <a:pt x="0" y="6161024"/>
                  </a:cubicBezTo>
                  <a:close/>
                </a:path>
              </a:pathLst>
            </a:custGeom>
            <a:solidFill>
              <a:srgbClr val="FBF4E9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956816" y="3291840"/>
            <a:ext cx="1097280" cy="1097280"/>
            <a:chOff x="0" y="0"/>
            <a:chExt cx="1463040" cy="14630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63040" cy="1463040"/>
            </a:xfrm>
            <a:custGeom>
              <a:avLst/>
              <a:gdLst/>
              <a:ahLst/>
              <a:cxnLst/>
              <a:rect l="l" t="t" r="r" b="b"/>
              <a:pathLst>
                <a:path w="1463040" h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C8862B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956816" y="3291840"/>
            <a:ext cx="1097280" cy="1097280"/>
            <a:chOff x="0" y="0"/>
            <a:chExt cx="1463040" cy="14630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63040" cy="1463040"/>
            </a:xfrm>
            <a:custGeom>
              <a:avLst/>
              <a:gdLst/>
              <a:ahLst/>
              <a:cxnLst/>
              <a:rect l="l" t="t" r="r" b="b"/>
              <a:pathLst>
                <a:path w="1463040" h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463040" cy="15011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79"/>
                </a:lnSpc>
              </a:pPr>
              <a:r>
                <a:rPr lang="en-US" sz="34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188720" y="4644390"/>
            <a:ext cx="2633472" cy="65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3E291F"/>
                </a:solidFill>
                <a:latin typeface="Poppins Bold"/>
                <a:ea typeface="Poppins Bold"/>
                <a:cs typeface="Poppins Bold"/>
                <a:sym typeface="Poppins Bold"/>
              </a:rPr>
              <a:t>Empathize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80160" y="5347335"/>
            <a:ext cx="2450592" cy="1590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7"/>
              </a:lnSpc>
            </a:pPr>
            <a:r>
              <a:rPr lang="en-US" sz="1899">
                <a:solidFill>
                  <a:srgbClr val="6B5B47"/>
                </a:solidFill>
                <a:latin typeface="Poppins"/>
                <a:ea typeface="Poppins"/>
                <a:cs typeface="Poppins"/>
                <a:sym typeface="Poppins"/>
              </a:rPr>
              <a:t>Interviews, surveys &amp; field research with beekeepers, societies and beginners.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3936492" y="3520440"/>
            <a:ext cx="457200" cy="640080"/>
            <a:chOff x="0" y="0"/>
            <a:chExt cx="609600" cy="8534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09600" cy="853440"/>
            </a:xfrm>
            <a:custGeom>
              <a:avLst/>
              <a:gdLst/>
              <a:ahLst/>
              <a:cxnLst/>
              <a:rect l="l" t="t" r="r" b="b"/>
              <a:pathLst>
                <a:path w="609600" h="853440">
                  <a:moveTo>
                    <a:pt x="0" y="0"/>
                  </a:moveTo>
                  <a:lnTo>
                    <a:pt x="609600" y="0"/>
                  </a:lnTo>
                  <a:lnTo>
                    <a:pt x="609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9625" r="-129625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60960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800"/>
                </a:lnSpc>
              </a:pPr>
              <a:r>
                <a:rPr lang="en-US" sz="4000" b="1">
                  <a:solidFill>
                    <a:srgbClr val="C8862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›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325112" y="2834640"/>
            <a:ext cx="2999232" cy="5120640"/>
            <a:chOff x="0" y="0"/>
            <a:chExt cx="3998976" cy="68275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998976" cy="6827520"/>
            </a:xfrm>
            <a:custGeom>
              <a:avLst/>
              <a:gdLst/>
              <a:ahLst/>
              <a:cxnLst/>
              <a:rect l="l" t="t" r="r" b="b"/>
              <a:pathLst>
                <a:path w="3998976" h="6827520">
                  <a:moveTo>
                    <a:pt x="0" y="666496"/>
                  </a:moveTo>
                  <a:cubicBezTo>
                    <a:pt x="0" y="298450"/>
                    <a:pt x="298450" y="0"/>
                    <a:pt x="666496" y="0"/>
                  </a:cubicBezTo>
                  <a:lnTo>
                    <a:pt x="3332480" y="0"/>
                  </a:lnTo>
                  <a:cubicBezTo>
                    <a:pt x="3700526" y="0"/>
                    <a:pt x="3998976" y="298450"/>
                    <a:pt x="3998976" y="666496"/>
                  </a:cubicBezTo>
                  <a:lnTo>
                    <a:pt x="3998976" y="6161024"/>
                  </a:lnTo>
                  <a:cubicBezTo>
                    <a:pt x="3998976" y="6529070"/>
                    <a:pt x="3700526" y="6827520"/>
                    <a:pt x="3332480" y="6827520"/>
                  </a:cubicBezTo>
                  <a:lnTo>
                    <a:pt x="666496" y="6827520"/>
                  </a:lnTo>
                  <a:cubicBezTo>
                    <a:pt x="298450" y="6827520"/>
                    <a:pt x="0" y="6529070"/>
                    <a:pt x="0" y="6161024"/>
                  </a:cubicBezTo>
                  <a:close/>
                </a:path>
              </a:pathLst>
            </a:custGeom>
            <a:solidFill>
              <a:srgbClr val="FBF4E9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5276088" y="3291840"/>
            <a:ext cx="1097280" cy="1097280"/>
            <a:chOff x="0" y="0"/>
            <a:chExt cx="1463040" cy="14630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63040" cy="1463040"/>
            </a:xfrm>
            <a:custGeom>
              <a:avLst/>
              <a:gdLst/>
              <a:ahLst/>
              <a:cxnLst/>
              <a:rect l="l" t="t" r="r" b="b"/>
              <a:pathLst>
                <a:path w="1463040" h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C8862B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5276088" y="3291840"/>
            <a:ext cx="1097280" cy="1097280"/>
            <a:chOff x="0" y="0"/>
            <a:chExt cx="1463040" cy="146304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463040" cy="1463040"/>
            </a:xfrm>
            <a:custGeom>
              <a:avLst/>
              <a:gdLst/>
              <a:ahLst/>
              <a:cxnLst/>
              <a:rect l="l" t="t" r="r" b="b"/>
              <a:pathLst>
                <a:path w="1463040" h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463040" cy="15011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79"/>
                </a:lnSpc>
              </a:pPr>
              <a:r>
                <a:rPr lang="en-US" sz="34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4507992" y="4644390"/>
            <a:ext cx="2633472" cy="65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3E291F"/>
                </a:solidFill>
                <a:latin typeface="Poppins Bold"/>
                <a:ea typeface="Poppins Bold"/>
                <a:cs typeface="Poppins Bold"/>
                <a:sym typeface="Poppins Bold"/>
              </a:rPr>
              <a:t>Define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99432" y="5347335"/>
            <a:ext cx="2450592" cy="1275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07"/>
              </a:lnSpc>
              <a:spcBef>
                <a:spcPct val="0"/>
              </a:spcBef>
            </a:pPr>
            <a:r>
              <a:rPr lang="en-US" sz="1899" u="none" strike="noStrike">
                <a:solidFill>
                  <a:srgbClr val="6B5B47"/>
                </a:solidFill>
                <a:latin typeface="Poppins"/>
                <a:ea typeface="Poppins"/>
                <a:cs typeface="Poppins"/>
                <a:sym typeface="Poppins"/>
              </a:rPr>
              <a:t>Synthesised the pains into one sharp, user-centred problem statement.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7255764" y="3520440"/>
            <a:ext cx="457200" cy="640080"/>
            <a:chOff x="0" y="0"/>
            <a:chExt cx="609600" cy="85344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09600" cy="853440"/>
            </a:xfrm>
            <a:custGeom>
              <a:avLst/>
              <a:gdLst/>
              <a:ahLst/>
              <a:cxnLst/>
              <a:rect l="l" t="t" r="r" b="b"/>
              <a:pathLst>
                <a:path w="609600" h="853440">
                  <a:moveTo>
                    <a:pt x="0" y="0"/>
                  </a:moveTo>
                  <a:lnTo>
                    <a:pt x="609600" y="0"/>
                  </a:lnTo>
                  <a:lnTo>
                    <a:pt x="609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9625" r="-129625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60960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800"/>
                </a:lnSpc>
              </a:pPr>
              <a:r>
                <a:rPr lang="en-US" sz="4000" b="1">
                  <a:solidFill>
                    <a:srgbClr val="C8862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›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644384" y="2834640"/>
            <a:ext cx="2999232" cy="5120640"/>
            <a:chOff x="0" y="0"/>
            <a:chExt cx="3998976" cy="682752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998976" cy="6827520"/>
            </a:xfrm>
            <a:custGeom>
              <a:avLst/>
              <a:gdLst/>
              <a:ahLst/>
              <a:cxnLst/>
              <a:rect l="l" t="t" r="r" b="b"/>
              <a:pathLst>
                <a:path w="3998976" h="6827520">
                  <a:moveTo>
                    <a:pt x="0" y="666496"/>
                  </a:moveTo>
                  <a:cubicBezTo>
                    <a:pt x="0" y="298450"/>
                    <a:pt x="298450" y="0"/>
                    <a:pt x="666496" y="0"/>
                  </a:cubicBezTo>
                  <a:lnTo>
                    <a:pt x="3332480" y="0"/>
                  </a:lnTo>
                  <a:cubicBezTo>
                    <a:pt x="3700526" y="0"/>
                    <a:pt x="3998976" y="298450"/>
                    <a:pt x="3998976" y="666496"/>
                  </a:cubicBezTo>
                  <a:lnTo>
                    <a:pt x="3998976" y="6161024"/>
                  </a:lnTo>
                  <a:cubicBezTo>
                    <a:pt x="3998976" y="6529070"/>
                    <a:pt x="3700526" y="6827520"/>
                    <a:pt x="3332480" y="6827520"/>
                  </a:cubicBezTo>
                  <a:lnTo>
                    <a:pt x="666496" y="6827520"/>
                  </a:lnTo>
                  <a:cubicBezTo>
                    <a:pt x="298450" y="6827520"/>
                    <a:pt x="0" y="6529070"/>
                    <a:pt x="0" y="6161024"/>
                  </a:cubicBezTo>
                  <a:close/>
                </a:path>
              </a:pathLst>
            </a:custGeom>
            <a:solidFill>
              <a:srgbClr val="FBF4E9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8595360" y="3291840"/>
            <a:ext cx="1097280" cy="1097280"/>
            <a:chOff x="0" y="0"/>
            <a:chExt cx="1463040" cy="146304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463040" cy="1463040"/>
            </a:xfrm>
            <a:custGeom>
              <a:avLst/>
              <a:gdLst/>
              <a:ahLst/>
              <a:cxnLst/>
              <a:rect l="l" t="t" r="r" b="b"/>
              <a:pathLst>
                <a:path w="1463040" h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C8862B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8595360" y="3291840"/>
            <a:ext cx="1097280" cy="1097280"/>
            <a:chOff x="0" y="0"/>
            <a:chExt cx="1463040" cy="146304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463040" cy="1463040"/>
            </a:xfrm>
            <a:custGeom>
              <a:avLst/>
              <a:gdLst/>
              <a:ahLst/>
              <a:cxnLst/>
              <a:rect l="l" t="t" r="r" b="b"/>
              <a:pathLst>
                <a:path w="1463040" h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1463040" cy="15011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79"/>
                </a:lnSpc>
              </a:pPr>
              <a:r>
                <a:rPr lang="en-US" sz="34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7827264" y="4644390"/>
            <a:ext cx="2633472" cy="65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3E291F"/>
                </a:solidFill>
                <a:latin typeface="Poppins Bold"/>
                <a:ea typeface="Poppins Bold"/>
                <a:cs typeface="Poppins Bold"/>
                <a:sym typeface="Poppins Bold"/>
              </a:rPr>
              <a:t>Ideate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918704" y="5347335"/>
            <a:ext cx="2450592" cy="1590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07"/>
              </a:lnSpc>
              <a:spcBef>
                <a:spcPct val="0"/>
              </a:spcBef>
            </a:pPr>
            <a:r>
              <a:rPr lang="en-US" sz="1899" u="none" strike="noStrike">
                <a:solidFill>
                  <a:srgbClr val="6B5B47"/>
                </a:solidFill>
                <a:latin typeface="Poppins"/>
                <a:ea typeface="Poppins"/>
                <a:cs typeface="Poppins"/>
                <a:sym typeface="Poppins"/>
              </a:rPr>
              <a:t>Brainstormed and scored concepts against user needs and a ₹4,000 budget.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10575036" y="3520440"/>
            <a:ext cx="457200" cy="640080"/>
            <a:chOff x="0" y="0"/>
            <a:chExt cx="609600" cy="85344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609600" cy="853440"/>
            </a:xfrm>
            <a:custGeom>
              <a:avLst/>
              <a:gdLst/>
              <a:ahLst/>
              <a:cxnLst/>
              <a:rect l="l" t="t" r="r" b="b"/>
              <a:pathLst>
                <a:path w="609600" h="853440">
                  <a:moveTo>
                    <a:pt x="0" y="0"/>
                  </a:moveTo>
                  <a:lnTo>
                    <a:pt x="609600" y="0"/>
                  </a:lnTo>
                  <a:lnTo>
                    <a:pt x="609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9625" r="-129625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47625"/>
              <a:ext cx="60960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800"/>
                </a:lnSpc>
              </a:pPr>
              <a:r>
                <a:rPr lang="en-US" sz="4000" b="1">
                  <a:solidFill>
                    <a:srgbClr val="C8862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›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0963656" y="2834640"/>
            <a:ext cx="2999232" cy="5120640"/>
            <a:chOff x="0" y="0"/>
            <a:chExt cx="3998976" cy="682752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3998976" cy="6827520"/>
            </a:xfrm>
            <a:custGeom>
              <a:avLst/>
              <a:gdLst/>
              <a:ahLst/>
              <a:cxnLst/>
              <a:rect l="l" t="t" r="r" b="b"/>
              <a:pathLst>
                <a:path w="3998976" h="6827520">
                  <a:moveTo>
                    <a:pt x="0" y="666496"/>
                  </a:moveTo>
                  <a:cubicBezTo>
                    <a:pt x="0" y="298450"/>
                    <a:pt x="298450" y="0"/>
                    <a:pt x="666496" y="0"/>
                  </a:cubicBezTo>
                  <a:lnTo>
                    <a:pt x="3332480" y="0"/>
                  </a:lnTo>
                  <a:cubicBezTo>
                    <a:pt x="3700526" y="0"/>
                    <a:pt x="3998976" y="298450"/>
                    <a:pt x="3998976" y="666496"/>
                  </a:cubicBezTo>
                  <a:lnTo>
                    <a:pt x="3998976" y="6161024"/>
                  </a:lnTo>
                  <a:cubicBezTo>
                    <a:pt x="3998976" y="6529070"/>
                    <a:pt x="3700526" y="6827520"/>
                    <a:pt x="3332480" y="6827520"/>
                  </a:cubicBezTo>
                  <a:lnTo>
                    <a:pt x="666496" y="6827520"/>
                  </a:lnTo>
                  <a:cubicBezTo>
                    <a:pt x="298450" y="6827520"/>
                    <a:pt x="0" y="6529070"/>
                    <a:pt x="0" y="6161024"/>
                  </a:cubicBezTo>
                  <a:close/>
                </a:path>
              </a:pathLst>
            </a:custGeom>
            <a:solidFill>
              <a:srgbClr val="FBF4E9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11914632" y="3291840"/>
            <a:ext cx="1097280" cy="1097280"/>
            <a:chOff x="0" y="0"/>
            <a:chExt cx="1463040" cy="146304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463040" cy="1463040"/>
            </a:xfrm>
            <a:custGeom>
              <a:avLst/>
              <a:gdLst/>
              <a:ahLst/>
              <a:cxnLst/>
              <a:rect l="l" t="t" r="r" b="b"/>
              <a:pathLst>
                <a:path w="1463040" h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C8862B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11914632" y="3291840"/>
            <a:ext cx="1097280" cy="1097280"/>
            <a:chOff x="0" y="0"/>
            <a:chExt cx="1463040" cy="146304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463040" cy="1463040"/>
            </a:xfrm>
            <a:custGeom>
              <a:avLst/>
              <a:gdLst/>
              <a:ahLst/>
              <a:cxnLst/>
              <a:rect l="l" t="t" r="r" b="b"/>
              <a:pathLst>
                <a:path w="1463040" h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1463040" cy="15011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79"/>
                </a:lnSpc>
              </a:pPr>
              <a:r>
                <a:rPr lang="en-US" sz="34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1146536" y="4644390"/>
            <a:ext cx="2633472" cy="65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3E291F"/>
                </a:solidFill>
                <a:latin typeface="Poppins Bold"/>
                <a:ea typeface="Poppins Bold"/>
                <a:cs typeface="Poppins Bold"/>
                <a:sym typeface="Poppins Bold"/>
              </a:rPr>
              <a:t>Prototype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237976" y="5347335"/>
            <a:ext cx="2450592" cy="1275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07"/>
              </a:lnSpc>
              <a:spcBef>
                <a:spcPct val="0"/>
              </a:spcBef>
            </a:pPr>
            <a:r>
              <a:rPr lang="en-US" sz="1899" u="none" strike="noStrike" dirty="0">
                <a:solidFill>
                  <a:srgbClr val="6B5B47"/>
                </a:solidFill>
                <a:latin typeface="Poppins"/>
                <a:ea typeface="Poppins"/>
                <a:cs typeface="Poppins"/>
                <a:sym typeface="Poppins"/>
              </a:rPr>
              <a:t>Interactive 3D </a:t>
            </a:r>
            <a:r>
              <a:rPr lang="en-US" sz="1899" u="none" strike="noStrike" dirty="0" err="1">
                <a:solidFill>
                  <a:srgbClr val="6B5B47"/>
                </a:solidFill>
                <a:latin typeface="Poppins"/>
                <a:ea typeface="Poppins"/>
                <a:cs typeface="Poppins"/>
                <a:sym typeface="Poppins"/>
              </a:rPr>
              <a:t>visualiser</a:t>
            </a:r>
            <a:r>
              <a:rPr lang="en-US" sz="1899" u="none" strike="noStrike" dirty="0">
                <a:solidFill>
                  <a:srgbClr val="6B5B47"/>
                </a:solidFill>
                <a:latin typeface="Poppins"/>
                <a:ea typeface="Poppins"/>
                <a:cs typeface="Poppins"/>
                <a:sym typeface="Poppins"/>
              </a:rPr>
              <a:t> plus a low-cost physical retrofit build.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13894308" y="3520440"/>
            <a:ext cx="457200" cy="640080"/>
            <a:chOff x="0" y="0"/>
            <a:chExt cx="609600" cy="85344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609600" cy="853440"/>
            </a:xfrm>
            <a:custGeom>
              <a:avLst/>
              <a:gdLst/>
              <a:ahLst/>
              <a:cxnLst/>
              <a:rect l="l" t="t" r="r" b="b"/>
              <a:pathLst>
                <a:path w="609600" h="853440">
                  <a:moveTo>
                    <a:pt x="0" y="0"/>
                  </a:moveTo>
                  <a:lnTo>
                    <a:pt x="609600" y="0"/>
                  </a:lnTo>
                  <a:lnTo>
                    <a:pt x="609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9625" r="-129625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47625"/>
              <a:ext cx="60960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800"/>
                </a:lnSpc>
              </a:pPr>
              <a:r>
                <a:rPr lang="en-US" sz="4000" b="1">
                  <a:solidFill>
                    <a:srgbClr val="C8862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›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4282928" y="2834640"/>
            <a:ext cx="2999232" cy="5120640"/>
            <a:chOff x="0" y="0"/>
            <a:chExt cx="3998976" cy="682752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3998976" cy="6827520"/>
            </a:xfrm>
            <a:custGeom>
              <a:avLst/>
              <a:gdLst/>
              <a:ahLst/>
              <a:cxnLst/>
              <a:rect l="l" t="t" r="r" b="b"/>
              <a:pathLst>
                <a:path w="3998976" h="6827520">
                  <a:moveTo>
                    <a:pt x="0" y="666496"/>
                  </a:moveTo>
                  <a:cubicBezTo>
                    <a:pt x="0" y="298450"/>
                    <a:pt x="298450" y="0"/>
                    <a:pt x="666496" y="0"/>
                  </a:cubicBezTo>
                  <a:lnTo>
                    <a:pt x="3332480" y="0"/>
                  </a:lnTo>
                  <a:cubicBezTo>
                    <a:pt x="3700526" y="0"/>
                    <a:pt x="3998976" y="298450"/>
                    <a:pt x="3998976" y="666496"/>
                  </a:cubicBezTo>
                  <a:lnTo>
                    <a:pt x="3998976" y="6161024"/>
                  </a:lnTo>
                  <a:cubicBezTo>
                    <a:pt x="3998976" y="6529070"/>
                    <a:pt x="3700526" y="6827520"/>
                    <a:pt x="3332480" y="6827520"/>
                  </a:cubicBezTo>
                  <a:lnTo>
                    <a:pt x="666496" y="6827520"/>
                  </a:lnTo>
                  <a:cubicBezTo>
                    <a:pt x="298450" y="6827520"/>
                    <a:pt x="0" y="6529070"/>
                    <a:pt x="0" y="6161024"/>
                  </a:cubicBezTo>
                  <a:close/>
                </a:path>
              </a:pathLst>
            </a:custGeom>
            <a:solidFill>
              <a:srgbClr val="FBF4E9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15233904" y="3291840"/>
            <a:ext cx="1097280" cy="1097280"/>
            <a:chOff x="0" y="0"/>
            <a:chExt cx="1463040" cy="146304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463040" cy="1463040"/>
            </a:xfrm>
            <a:custGeom>
              <a:avLst/>
              <a:gdLst/>
              <a:ahLst/>
              <a:cxnLst/>
              <a:rect l="l" t="t" r="r" b="b"/>
              <a:pathLst>
                <a:path w="1463040" h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C8862B"/>
            </a:solidFill>
          </p:spPr>
        </p:sp>
      </p:grpSp>
      <p:grpSp>
        <p:nvGrpSpPr>
          <p:cNvPr id="58" name="Group 58"/>
          <p:cNvGrpSpPr/>
          <p:nvPr/>
        </p:nvGrpSpPr>
        <p:grpSpPr>
          <a:xfrm>
            <a:off x="15233904" y="3291840"/>
            <a:ext cx="1097280" cy="1097280"/>
            <a:chOff x="0" y="0"/>
            <a:chExt cx="1463040" cy="146304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463040" cy="1463040"/>
            </a:xfrm>
            <a:custGeom>
              <a:avLst/>
              <a:gdLst/>
              <a:ahLst/>
              <a:cxnLst/>
              <a:rect l="l" t="t" r="r" b="b"/>
              <a:pathLst>
                <a:path w="1463040" h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38100"/>
              <a:ext cx="1463040" cy="15011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79"/>
                </a:lnSpc>
              </a:pPr>
              <a:r>
                <a:rPr lang="en-US" sz="34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5</a:t>
              </a:r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14465808" y="4644390"/>
            <a:ext cx="2633472" cy="65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3E291F"/>
                </a:solidFill>
                <a:latin typeface="Poppins Bold"/>
                <a:ea typeface="Poppins Bold"/>
                <a:cs typeface="Poppins Bold"/>
                <a:sym typeface="Poppins Bold"/>
              </a:rPr>
              <a:t>Test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4557248" y="5347335"/>
            <a:ext cx="2450592" cy="1275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07"/>
              </a:lnSpc>
              <a:spcBef>
                <a:spcPct val="0"/>
              </a:spcBef>
            </a:pPr>
            <a:r>
              <a:rPr lang="en-US" sz="1899" u="none" strike="noStrike" dirty="0">
                <a:solidFill>
                  <a:srgbClr val="6B5B47"/>
                </a:solidFill>
                <a:latin typeface="Poppins"/>
                <a:ea typeface="Poppins"/>
                <a:cs typeface="Poppins"/>
                <a:sym typeface="Poppins"/>
              </a:rPr>
              <a:t>Usability, thermal and bee-</a:t>
            </a:r>
            <a:r>
              <a:rPr lang="en-US" sz="1899" u="none" strike="noStrike" dirty="0" err="1">
                <a:solidFill>
                  <a:srgbClr val="6B5B47"/>
                </a:solidFill>
                <a:latin typeface="Poppins"/>
                <a:ea typeface="Poppins"/>
                <a:cs typeface="Poppins"/>
                <a:sym typeface="Poppins"/>
              </a:rPr>
              <a:t>behaviour</a:t>
            </a:r>
            <a:r>
              <a:rPr lang="en-US" sz="1899" u="none" strike="noStrike" dirty="0">
                <a:solidFill>
                  <a:srgbClr val="6B5B47"/>
                </a:solidFill>
                <a:latin typeface="Poppins"/>
                <a:ea typeface="Poppins"/>
                <a:cs typeface="Poppins"/>
                <a:sym typeface="Poppins"/>
              </a:rPr>
              <a:t> validation with real beekeepers.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DB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8856538" cy="8229600"/>
            <a:chOff x="0" y="0"/>
            <a:chExt cx="25142050" cy="1097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142062" cy="10972800"/>
            </a:xfrm>
            <a:custGeom>
              <a:avLst/>
              <a:gdLst/>
              <a:ahLst/>
              <a:cxnLst/>
              <a:rect l="l" t="t" r="r" b="b"/>
              <a:pathLst>
                <a:path w="25142062" h="10972800">
                  <a:moveTo>
                    <a:pt x="1270" y="0"/>
                  </a:moveTo>
                  <a:lnTo>
                    <a:pt x="25140793" y="0"/>
                  </a:lnTo>
                  <a:cubicBezTo>
                    <a:pt x="25141428" y="0"/>
                    <a:pt x="25142062" y="508"/>
                    <a:pt x="25142062" y="1270"/>
                  </a:cubicBezTo>
                  <a:lnTo>
                    <a:pt x="25142062" y="10971530"/>
                  </a:lnTo>
                  <a:cubicBezTo>
                    <a:pt x="25142062" y="10972165"/>
                    <a:pt x="25141555" y="10972800"/>
                    <a:pt x="25140793" y="10972800"/>
                  </a:cubicBezTo>
                  <a:lnTo>
                    <a:pt x="1270" y="10972800"/>
                  </a:lnTo>
                  <a:cubicBezTo>
                    <a:pt x="635" y="10972800"/>
                    <a:pt x="0" y="10972292"/>
                    <a:pt x="0" y="10971530"/>
                  </a:cubicBezTo>
                  <a:lnTo>
                    <a:pt x="0" y="1270"/>
                  </a:lnTo>
                  <a:cubicBezTo>
                    <a:pt x="0" y="508"/>
                    <a:pt x="508" y="0"/>
                    <a:pt x="1270" y="0"/>
                  </a:cubicBezTo>
                  <a:close/>
                </a:path>
              </a:pathLst>
            </a:custGeom>
            <a:blipFill>
              <a:blip r:embed="rId2"/>
              <a:stretch>
                <a:fillRect t="-15302" b="-15302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679819" y="1269054"/>
            <a:ext cx="7758103" cy="7296769"/>
          </a:xfrm>
          <a:custGeom>
            <a:avLst/>
            <a:gdLst/>
            <a:ahLst/>
            <a:cxnLst/>
            <a:rect l="l" t="t" r="r" b="b"/>
            <a:pathLst>
              <a:path w="7758103" h="7296769">
                <a:moveTo>
                  <a:pt x="0" y="0"/>
                </a:moveTo>
                <a:lnTo>
                  <a:pt x="7758103" y="0"/>
                </a:lnTo>
                <a:lnTo>
                  <a:pt x="7758103" y="7296769"/>
                </a:lnTo>
                <a:lnTo>
                  <a:pt x="0" y="72967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2556958" y="3201943"/>
            <a:ext cx="5926255" cy="500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345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Core Problem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556958" y="4046306"/>
            <a:ext cx="5926255" cy="3410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5900" lvl="1" indent="-217950" algn="l">
              <a:lnSpc>
                <a:spcPts val="3392"/>
              </a:lnSpc>
              <a:buFont typeface="Arial"/>
              <a:buChar char="•"/>
            </a:pPr>
            <a:r>
              <a:rPr lang="en-US" sz="201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Small-scale farmers fear bee stings and lack hive expertise.</a:t>
            </a:r>
            <a:r>
              <a:rPr sz="1100" b="1" baseline="30000">
                <a:solidFill>
                  <a:srgbClr val="C8862B"/>
                </a:solidFill>
                <a:latin typeface="Poppins"/>
              </a:rPr>
              <a:t> [Harsha, Sushanth]</a:t>
            </a:r>
          </a:p>
          <a:p>
            <a:pPr marL="435900" lvl="1" indent="-217950" algn="l">
              <a:lnSpc>
                <a:spcPts val="3392"/>
              </a:lnSpc>
              <a:buFont typeface="Arial"/>
              <a:buChar char="•"/>
            </a:pPr>
            <a:r>
              <a:rPr lang="en-US" sz="201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Traditional hive inspection is risky, disruptive, and costly.</a:t>
            </a:r>
            <a:r>
              <a:rPr sz="1100" b="1" baseline="30000">
                <a:solidFill>
                  <a:srgbClr val="C8862B"/>
                </a:solidFill>
                <a:latin typeface="Poppins"/>
              </a:rPr>
              <a:t> [2,3]</a:t>
            </a:r>
          </a:p>
          <a:p>
            <a:pPr marL="435900" lvl="1" indent="-217950" algn="l">
              <a:lnSpc>
                <a:spcPts val="3392"/>
              </a:lnSpc>
              <a:buFont typeface="Arial"/>
              <a:buChar char="•"/>
            </a:pPr>
            <a:r>
              <a:rPr lang="en-US" sz="201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Need safer, simpler, low-cost inspection and maintenance solutions.</a:t>
            </a:r>
            <a:r>
              <a:rPr sz="1100" b="1" baseline="30000">
                <a:solidFill>
                  <a:srgbClr val="C8862B"/>
                </a:solidFill>
                <a:latin typeface="Poppins"/>
              </a:rPr>
              <a:t> [Beekeeper survey]</a:t>
            </a:r>
          </a:p>
          <a:p>
            <a:pPr marL="435900" lvl="1" indent="-217950" algn="l">
              <a:lnSpc>
                <a:spcPts val="3392"/>
              </a:lnSpc>
              <a:buFont typeface="Arial"/>
              <a:buChar char="•"/>
            </a:pPr>
            <a:r>
              <a:rPr lang="en-US" sz="201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Budget constraint: Upgrade cost must stay under ₹4,000.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DB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5840" y="666750"/>
            <a:ext cx="1627632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1">
                <a:solidFill>
                  <a:srgbClr val="C8862B"/>
                </a:solidFill>
                <a:latin typeface="Poppins Bold"/>
                <a:ea typeface="Poppins Bold"/>
                <a:cs typeface="Poppins Bold"/>
                <a:sym typeface="Poppins Bold"/>
              </a:rPr>
              <a:t>01 · EMPATHIZE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05840" y="1049655"/>
            <a:ext cx="16276320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 b="1">
                <a:solidFill>
                  <a:srgbClr val="3E291F"/>
                </a:solidFill>
                <a:latin typeface="Poppins Bold"/>
                <a:ea typeface="Poppins Bold"/>
                <a:cs typeface="Poppins Bold"/>
                <a:sym typeface="Poppins Bold"/>
              </a:rPr>
              <a:t>Research &amp; Key Insights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24128" y="1920240"/>
            <a:ext cx="2011680" cy="82296"/>
            <a:chOff x="0" y="0"/>
            <a:chExt cx="2682240" cy="10972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82240" cy="109728"/>
            </a:xfrm>
            <a:custGeom>
              <a:avLst/>
              <a:gdLst/>
              <a:ahLst/>
              <a:cxnLst/>
              <a:rect l="l" t="t" r="r" b="b"/>
              <a:pathLst>
                <a:path w="2682240" h="109728">
                  <a:moveTo>
                    <a:pt x="0" y="0"/>
                  </a:moveTo>
                  <a:lnTo>
                    <a:pt x="2682240" y="0"/>
                  </a:lnTo>
                  <a:lnTo>
                    <a:pt x="268224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C8862B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05840" y="2880360"/>
            <a:ext cx="7635240" cy="6126480"/>
            <a:chOff x="0" y="0"/>
            <a:chExt cx="10180320" cy="81686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180320" cy="8168640"/>
            </a:xfrm>
            <a:custGeom>
              <a:avLst/>
              <a:gdLst/>
              <a:ahLst/>
              <a:cxnLst/>
              <a:rect l="l" t="t" r="r" b="b"/>
              <a:pathLst>
                <a:path w="10180320" h="8168640">
                  <a:moveTo>
                    <a:pt x="0" y="1361440"/>
                  </a:moveTo>
                  <a:cubicBezTo>
                    <a:pt x="0" y="609600"/>
                    <a:pt x="609600" y="0"/>
                    <a:pt x="1361440" y="0"/>
                  </a:cubicBezTo>
                  <a:lnTo>
                    <a:pt x="8818880" y="0"/>
                  </a:lnTo>
                  <a:cubicBezTo>
                    <a:pt x="9570720" y="0"/>
                    <a:pt x="10180320" y="609600"/>
                    <a:pt x="10180320" y="1361440"/>
                  </a:cubicBezTo>
                  <a:lnTo>
                    <a:pt x="10180320" y="6807200"/>
                  </a:lnTo>
                  <a:cubicBezTo>
                    <a:pt x="10180320" y="7559167"/>
                    <a:pt x="9570720" y="8168640"/>
                    <a:pt x="8818880" y="8168640"/>
                  </a:cubicBezTo>
                  <a:lnTo>
                    <a:pt x="1361440" y="8168640"/>
                  </a:lnTo>
                  <a:cubicBezTo>
                    <a:pt x="609600" y="8168640"/>
                    <a:pt x="0" y="7559040"/>
                    <a:pt x="0" y="6807200"/>
                  </a:cubicBezTo>
                  <a:close/>
                </a:path>
              </a:pathLst>
            </a:custGeom>
            <a:solidFill>
              <a:srgbClr val="FBF4E9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005840" y="2880360"/>
            <a:ext cx="7635240" cy="868680"/>
            <a:chOff x="0" y="0"/>
            <a:chExt cx="10180320" cy="11582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180320" cy="1158240"/>
            </a:xfrm>
            <a:custGeom>
              <a:avLst/>
              <a:gdLst/>
              <a:ahLst/>
              <a:cxnLst/>
              <a:rect l="l" t="t" r="r" b="b"/>
              <a:pathLst>
                <a:path w="10180320" h="1158240">
                  <a:moveTo>
                    <a:pt x="0" y="193040"/>
                  </a:moveTo>
                  <a:cubicBezTo>
                    <a:pt x="0" y="86487"/>
                    <a:pt x="86487" y="0"/>
                    <a:pt x="193040" y="0"/>
                  </a:cubicBezTo>
                  <a:lnTo>
                    <a:pt x="9987280" y="0"/>
                  </a:lnTo>
                  <a:cubicBezTo>
                    <a:pt x="10093833" y="0"/>
                    <a:pt x="10180320" y="86487"/>
                    <a:pt x="10180320" y="193040"/>
                  </a:cubicBezTo>
                  <a:lnTo>
                    <a:pt x="10180320" y="965200"/>
                  </a:lnTo>
                  <a:cubicBezTo>
                    <a:pt x="10180320" y="1071753"/>
                    <a:pt x="10093833" y="1158240"/>
                    <a:pt x="9987280" y="1158240"/>
                  </a:cubicBezTo>
                  <a:lnTo>
                    <a:pt x="193040" y="1158240"/>
                  </a:lnTo>
                  <a:cubicBezTo>
                    <a:pt x="86487" y="1158240"/>
                    <a:pt x="0" y="1071753"/>
                    <a:pt x="0" y="965200"/>
                  </a:cubicBezTo>
                  <a:close/>
                </a:path>
              </a:pathLst>
            </a:custGeom>
            <a:solidFill>
              <a:srgbClr val="C8862B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280160" y="3016377"/>
            <a:ext cx="7086600" cy="577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How We Researched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63040" y="3985260"/>
            <a:ext cx="6629400" cy="2537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000">
                <a:solidFill>
                  <a:srgbClr val="3E291F"/>
                </a:solidFill>
                <a:latin typeface="Poppins"/>
                <a:ea typeface="Poppins"/>
                <a:cs typeface="Poppins"/>
                <a:sym typeface="Poppins"/>
              </a:rPr>
              <a:t>•  7 in-depth interviews — beekeepers, bee societies       &amp; beginners</a:t>
            </a:r>
          </a:p>
          <a:p>
            <a:pPr algn="l">
              <a:lnSpc>
                <a:spcPts val="2520"/>
              </a:lnSpc>
            </a:pPr>
            <a:r>
              <a:rPr lang="en-US" sz="2000">
                <a:solidFill>
                  <a:srgbClr val="3E291F"/>
                </a:solidFill>
                <a:latin typeface="Poppins"/>
                <a:ea typeface="Poppins"/>
                <a:cs typeface="Poppins"/>
                <a:sym typeface="Poppins"/>
              </a:rPr>
              <a:t>•  Google Form survey of beekeepers and honey consumers</a:t>
            </a:r>
          </a:p>
          <a:p>
            <a:pPr algn="l">
              <a:lnSpc>
                <a:spcPts val="2520"/>
              </a:lnSpc>
            </a:pPr>
            <a:r>
              <a:rPr lang="en-US" sz="2000">
                <a:solidFill>
                  <a:srgbClr val="3E291F"/>
                </a:solidFill>
                <a:latin typeface="Poppins"/>
                <a:ea typeface="Poppins"/>
                <a:cs typeface="Poppins"/>
                <a:sym typeface="Poppins"/>
              </a:rPr>
              <a:t>•  Field observation and a hands-on bee training camp</a:t>
            </a:r>
          </a:p>
          <a:p>
            <a:pPr algn="l">
              <a:lnSpc>
                <a:spcPts val="2520"/>
              </a:lnSpc>
            </a:pPr>
            <a:r>
              <a:rPr lang="en-US" sz="2000">
                <a:solidFill>
                  <a:srgbClr val="3E291F"/>
                </a:solidFill>
                <a:latin typeface="Poppins"/>
                <a:ea typeface="Poppins"/>
                <a:cs typeface="Poppins"/>
                <a:sym typeface="Poppins"/>
              </a:rPr>
              <a:t>•  Secondary research — Flow Hive, ISI standards, literature</a:t>
            </a:r>
            <a:r>
              <a:rPr sz="1100" b="1" baseline="30000">
                <a:solidFill>
                  <a:srgbClr val="C8862B"/>
                </a:solidFill>
                <a:latin typeface="Poppins"/>
              </a:rPr>
              <a:t> [1,4,6]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464040" y="2880360"/>
            <a:ext cx="7635240" cy="6126480"/>
            <a:chOff x="0" y="0"/>
            <a:chExt cx="10180320" cy="81686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180320" cy="8168640"/>
            </a:xfrm>
            <a:custGeom>
              <a:avLst/>
              <a:gdLst/>
              <a:ahLst/>
              <a:cxnLst/>
              <a:rect l="l" t="t" r="r" b="b"/>
              <a:pathLst>
                <a:path w="10180320" h="8168640">
                  <a:moveTo>
                    <a:pt x="0" y="1361440"/>
                  </a:moveTo>
                  <a:cubicBezTo>
                    <a:pt x="0" y="609600"/>
                    <a:pt x="609600" y="0"/>
                    <a:pt x="1361440" y="0"/>
                  </a:cubicBezTo>
                  <a:lnTo>
                    <a:pt x="8818880" y="0"/>
                  </a:lnTo>
                  <a:cubicBezTo>
                    <a:pt x="9570720" y="0"/>
                    <a:pt x="10180320" y="609600"/>
                    <a:pt x="10180320" y="1361440"/>
                  </a:cubicBezTo>
                  <a:lnTo>
                    <a:pt x="10180320" y="6807200"/>
                  </a:lnTo>
                  <a:cubicBezTo>
                    <a:pt x="10180320" y="7559167"/>
                    <a:pt x="9570720" y="8168640"/>
                    <a:pt x="8818880" y="8168640"/>
                  </a:cubicBezTo>
                  <a:lnTo>
                    <a:pt x="1361440" y="8168640"/>
                  </a:lnTo>
                  <a:cubicBezTo>
                    <a:pt x="609600" y="8168640"/>
                    <a:pt x="0" y="7559040"/>
                    <a:pt x="0" y="6807200"/>
                  </a:cubicBezTo>
                  <a:close/>
                </a:path>
              </a:pathLst>
            </a:custGeom>
            <a:solidFill>
              <a:srgbClr val="FBF4E9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9464040" y="2880360"/>
            <a:ext cx="7635240" cy="868680"/>
            <a:chOff x="0" y="0"/>
            <a:chExt cx="10180320" cy="11582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180320" cy="1158240"/>
            </a:xfrm>
            <a:custGeom>
              <a:avLst/>
              <a:gdLst/>
              <a:ahLst/>
              <a:cxnLst/>
              <a:rect l="l" t="t" r="r" b="b"/>
              <a:pathLst>
                <a:path w="10180320" h="1158240">
                  <a:moveTo>
                    <a:pt x="0" y="193040"/>
                  </a:moveTo>
                  <a:cubicBezTo>
                    <a:pt x="0" y="86487"/>
                    <a:pt x="86487" y="0"/>
                    <a:pt x="193040" y="0"/>
                  </a:cubicBezTo>
                  <a:lnTo>
                    <a:pt x="9987280" y="0"/>
                  </a:lnTo>
                  <a:cubicBezTo>
                    <a:pt x="10093833" y="0"/>
                    <a:pt x="10180320" y="86487"/>
                    <a:pt x="10180320" y="193040"/>
                  </a:cubicBezTo>
                  <a:lnTo>
                    <a:pt x="10180320" y="965200"/>
                  </a:lnTo>
                  <a:cubicBezTo>
                    <a:pt x="10180320" y="1071753"/>
                    <a:pt x="10093833" y="1158240"/>
                    <a:pt x="9987280" y="1158240"/>
                  </a:cubicBezTo>
                  <a:lnTo>
                    <a:pt x="193040" y="1158240"/>
                  </a:lnTo>
                  <a:cubicBezTo>
                    <a:pt x="86487" y="1158240"/>
                    <a:pt x="0" y="1071753"/>
                    <a:pt x="0" y="965200"/>
                  </a:cubicBezTo>
                  <a:close/>
                </a:path>
              </a:pathLst>
            </a:custGeom>
            <a:solidFill>
              <a:srgbClr val="3E291F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9829800" y="3016377"/>
            <a:ext cx="7086600" cy="577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What We Learned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21240" y="3985260"/>
            <a:ext cx="6629400" cy="3604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000">
                <a:solidFill>
                  <a:srgbClr val="3E291F"/>
                </a:solidFill>
                <a:latin typeface="Poppins"/>
                <a:ea typeface="Poppins"/>
                <a:cs typeface="Poppins"/>
                <a:sym typeface="Poppins"/>
              </a:rPr>
              <a:t>•  Fear of stings is the biggest barrier to adoption</a:t>
            </a:r>
            <a:r>
              <a:rPr sz="1100" b="1" baseline="30000">
                <a:solidFill>
                  <a:srgbClr val="C8862B"/>
                </a:solidFill>
                <a:latin typeface="Poppins"/>
              </a:rPr>
              <a:t> [Harsha, Sushanth]</a:t>
            </a:r>
          </a:p>
          <a:p>
            <a:pPr algn="l">
              <a:lnSpc>
                <a:spcPts val="2520"/>
              </a:lnSpc>
            </a:pPr>
            <a:r>
              <a:rPr lang="en-US" sz="2000">
                <a:solidFill>
                  <a:srgbClr val="3E291F"/>
                </a:solidFill>
                <a:latin typeface="Poppins"/>
                <a:ea typeface="Poppins"/>
                <a:cs typeface="Poppins"/>
                <a:sym typeface="Poppins"/>
              </a:rPr>
              <a:t>•  Inspection is reactive — hives opened only when a problem shows</a:t>
            </a:r>
            <a:r>
              <a:rPr sz="1100" b="1" baseline="30000">
                <a:solidFill>
                  <a:srgbClr val="C8862B"/>
                </a:solidFill>
                <a:latin typeface="Poppins"/>
              </a:rPr>
              <a:t> [Manjunath, Sushanth]</a:t>
            </a:r>
          </a:p>
          <a:p>
            <a:pPr algn="l">
              <a:lnSpc>
                <a:spcPts val="2520"/>
              </a:lnSpc>
            </a:pPr>
            <a:r>
              <a:rPr lang="en-US" sz="2000">
                <a:solidFill>
                  <a:srgbClr val="3E291F"/>
                </a:solidFill>
                <a:latin typeface="Poppins"/>
                <a:ea typeface="Poppins"/>
                <a:cs typeface="Poppins"/>
                <a:sym typeface="Poppins"/>
              </a:rPr>
              <a:t>•  Climate &amp; pests drive colony loss; monsoon is hardest</a:t>
            </a:r>
            <a:r>
              <a:rPr sz="1100" b="1" baseline="30000">
                <a:solidFill>
                  <a:srgbClr val="C8862B"/>
                </a:solidFill>
                <a:latin typeface="Poppins"/>
              </a:rPr>
              <a:t> [Beekeeper survey, Dhruv]</a:t>
            </a:r>
          </a:p>
          <a:p>
            <a:pPr algn="l">
              <a:lnSpc>
                <a:spcPts val="2520"/>
              </a:lnSpc>
            </a:pPr>
            <a:r>
              <a:rPr lang="en-US" sz="2000">
                <a:solidFill>
                  <a:srgbClr val="3E291F"/>
                </a:solidFill>
                <a:latin typeface="Poppins"/>
                <a:ea typeface="Poppins"/>
                <a:cs typeface="Poppins"/>
                <a:sym typeface="Poppins"/>
              </a:rPr>
              <a:t>•  Knowledge gap — most rely on informal, inconsistent learning</a:t>
            </a:r>
            <a:r>
              <a:rPr sz="1100" b="1" baseline="30000">
                <a:solidFill>
                  <a:srgbClr val="C8862B"/>
                </a:solidFill>
                <a:latin typeface="Poppins"/>
              </a:rPr>
              <a:t> [Dhruv, Ullas]</a:t>
            </a:r>
          </a:p>
          <a:p>
            <a:pPr algn="l">
              <a:lnSpc>
                <a:spcPts val="2520"/>
              </a:lnSpc>
            </a:pPr>
            <a:r>
              <a:rPr lang="en-US" sz="2000">
                <a:solidFill>
                  <a:srgbClr val="3E291F"/>
                </a:solidFill>
                <a:latin typeface="Poppins"/>
                <a:ea typeface="Poppins"/>
                <a:cs typeface="Poppins"/>
                <a:sym typeface="Poppins"/>
              </a:rPr>
              <a:t>•  Farmers want affordability over expensive automation</a:t>
            </a:r>
            <a:r>
              <a:rPr sz="1100" b="1" baseline="30000">
                <a:solidFill>
                  <a:srgbClr val="C8862B"/>
                </a:solidFill>
                <a:latin typeface="Poppins"/>
              </a:rPr>
              <a:t> [Ullas, Harsha]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E29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5840" y="666750"/>
            <a:ext cx="1627632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1">
                <a:solidFill>
                  <a:srgbClr val="C8862B"/>
                </a:solidFill>
                <a:latin typeface="Poppins Bold"/>
                <a:ea typeface="Poppins Bold"/>
                <a:cs typeface="Poppins Bold"/>
                <a:sym typeface="Poppins Bold"/>
              </a:rPr>
              <a:t>02 · DEFINE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05840" y="1049655"/>
            <a:ext cx="16276320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Point of View &amp; Problem Definition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24128" y="1920240"/>
            <a:ext cx="2011680" cy="82296"/>
            <a:chOff x="0" y="0"/>
            <a:chExt cx="2682240" cy="10972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82240" cy="109728"/>
            </a:xfrm>
            <a:custGeom>
              <a:avLst/>
              <a:gdLst/>
              <a:ahLst/>
              <a:cxnLst/>
              <a:rect l="l" t="t" r="r" b="b"/>
              <a:pathLst>
                <a:path w="2682240" h="109728">
                  <a:moveTo>
                    <a:pt x="0" y="0"/>
                  </a:moveTo>
                  <a:lnTo>
                    <a:pt x="2682240" y="0"/>
                  </a:lnTo>
                  <a:lnTo>
                    <a:pt x="268224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C8862B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05840" y="2926080"/>
            <a:ext cx="16276320" cy="2468880"/>
            <a:chOff x="0" y="0"/>
            <a:chExt cx="21701760" cy="32918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01759" cy="3291840"/>
            </a:xfrm>
            <a:custGeom>
              <a:avLst/>
              <a:gdLst/>
              <a:ahLst/>
              <a:cxnLst/>
              <a:rect l="l" t="t" r="r" b="b"/>
              <a:pathLst>
                <a:path w="21701759" h="329184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lnTo>
                    <a:pt x="21153120" y="0"/>
                  </a:lnTo>
                  <a:cubicBezTo>
                    <a:pt x="21456142" y="0"/>
                    <a:pt x="21701759" y="245618"/>
                    <a:pt x="21701759" y="548640"/>
                  </a:cubicBezTo>
                  <a:lnTo>
                    <a:pt x="21701759" y="2743200"/>
                  </a:lnTo>
                  <a:cubicBezTo>
                    <a:pt x="21701759" y="3046222"/>
                    <a:pt x="21456142" y="3291840"/>
                    <a:pt x="21153120" y="3291840"/>
                  </a:cubicBezTo>
                  <a:lnTo>
                    <a:pt x="548640" y="3291840"/>
                  </a:lnTo>
                  <a:cubicBezTo>
                    <a:pt x="245618" y="3291840"/>
                    <a:pt x="0" y="3046222"/>
                    <a:pt x="0" y="2743200"/>
                  </a:cubicBezTo>
                  <a:close/>
                </a:path>
              </a:pathLst>
            </a:custGeom>
            <a:solidFill>
              <a:srgbClr val="5A4436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005840" y="2926080"/>
            <a:ext cx="347472" cy="2468880"/>
            <a:chOff x="0" y="0"/>
            <a:chExt cx="463296" cy="3291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63296" cy="3291840"/>
            </a:xfrm>
            <a:custGeom>
              <a:avLst/>
              <a:gdLst/>
              <a:ahLst/>
              <a:cxnLst/>
              <a:rect l="l" t="t" r="r" b="b"/>
              <a:pathLst>
                <a:path w="463296" h="3291840">
                  <a:moveTo>
                    <a:pt x="0" y="0"/>
                  </a:moveTo>
                  <a:lnTo>
                    <a:pt x="463296" y="0"/>
                  </a:lnTo>
                  <a:lnTo>
                    <a:pt x="463296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C8862B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463040" y="3154680"/>
            <a:ext cx="15453360" cy="2103120"/>
            <a:chOff x="0" y="0"/>
            <a:chExt cx="20604480" cy="28041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604479" cy="2804160"/>
            </a:xfrm>
            <a:custGeom>
              <a:avLst/>
              <a:gdLst/>
              <a:ahLst/>
              <a:cxnLst/>
              <a:rect l="l" t="t" r="r" b="b"/>
              <a:pathLst>
                <a:path w="20604479" h="2804160">
                  <a:moveTo>
                    <a:pt x="0" y="0"/>
                  </a:moveTo>
                  <a:lnTo>
                    <a:pt x="20604479" y="0"/>
                  </a:lnTo>
                  <a:lnTo>
                    <a:pt x="20604479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3172" b="-9317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20604480" cy="28708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11"/>
                </a:lnSpc>
              </a:pPr>
              <a:r>
                <a:rPr lang="en-US" sz="24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“Small-scale Indian beekeepers need a safer, affordable and easy-to-use hive-management solution , because current methods are too risky, costly and technically demanding for everyday use.”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05840" y="5810250"/>
            <a:ext cx="16276320" cy="296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C8862B"/>
                </a:solidFill>
                <a:latin typeface="Poppins Bold"/>
                <a:ea typeface="Poppins Bold"/>
                <a:cs typeface="Poppins Bold"/>
                <a:sym typeface="Poppins Bold"/>
              </a:rPr>
              <a:t>ROOT CAUSE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5840" y="6183630"/>
            <a:ext cx="16276320" cy="1062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1900">
                <a:solidFill>
                  <a:srgbClr val="ECDBC2"/>
                </a:solidFill>
                <a:latin typeface="Poppins"/>
                <a:ea typeface="Poppins"/>
                <a:cs typeface="Poppins"/>
                <a:sym typeface="Poppins"/>
              </a:rPr>
              <a:t>Small farmers are underserved by beekeeping technology — existing solutions don’t match their budget, climate, skill level or scale.</a:t>
            </a:r>
            <a:r>
              <a:rPr sz="1100" b="1" baseline="30000">
                <a:solidFill>
                  <a:srgbClr val="C8862B"/>
                </a:solidFill>
                <a:latin typeface="Poppins"/>
              </a:rPr>
              <a:t> [2,3,8]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005840" y="7680960"/>
            <a:ext cx="2916936" cy="777240"/>
            <a:chOff x="0" y="0"/>
            <a:chExt cx="3889248" cy="10363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889248" cy="1036320"/>
            </a:xfrm>
            <a:custGeom>
              <a:avLst/>
              <a:gdLst/>
              <a:ahLst/>
              <a:cxnLst/>
              <a:rect l="l" t="t" r="r" b="b"/>
              <a:pathLst>
                <a:path w="3889248" h="1036320">
                  <a:moveTo>
                    <a:pt x="0" y="172720"/>
                  </a:moveTo>
                  <a:cubicBezTo>
                    <a:pt x="0" y="77343"/>
                    <a:pt x="77343" y="0"/>
                    <a:pt x="172720" y="0"/>
                  </a:cubicBezTo>
                  <a:lnTo>
                    <a:pt x="3716528" y="0"/>
                  </a:lnTo>
                  <a:cubicBezTo>
                    <a:pt x="3811905" y="0"/>
                    <a:pt x="3889248" y="77343"/>
                    <a:pt x="3889248" y="172720"/>
                  </a:cubicBezTo>
                  <a:lnTo>
                    <a:pt x="3889248" y="863600"/>
                  </a:lnTo>
                  <a:cubicBezTo>
                    <a:pt x="3889248" y="958977"/>
                    <a:pt x="3811905" y="1036320"/>
                    <a:pt x="3716528" y="1036320"/>
                  </a:cubicBezTo>
                  <a:lnTo>
                    <a:pt x="172720" y="1036320"/>
                  </a:lnTo>
                  <a:cubicBezTo>
                    <a:pt x="77343" y="1036320"/>
                    <a:pt x="0" y="958977"/>
                    <a:pt x="0" y="863600"/>
                  </a:cubicBezTo>
                  <a:close/>
                </a:path>
              </a:pathLst>
            </a:custGeom>
            <a:solidFill>
              <a:srgbClr val="C8862B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005840" y="7680960"/>
            <a:ext cx="2916936" cy="777240"/>
            <a:chOff x="0" y="0"/>
            <a:chExt cx="3889248" cy="103632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889248" cy="1036320"/>
            </a:xfrm>
            <a:custGeom>
              <a:avLst/>
              <a:gdLst/>
              <a:ahLst/>
              <a:cxnLst/>
              <a:rect l="l" t="t" r="r" b="b"/>
              <a:pathLst>
                <a:path w="3889248" h="1036320">
                  <a:moveTo>
                    <a:pt x="0" y="0"/>
                  </a:moveTo>
                  <a:lnTo>
                    <a:pt x="3889248" y="0"/>
                  </a:lnTo>
                  <a:lnTo>
                    <a:pt x="3889248" y="1036320"/>
                  </a:lnTo>
                  <a:lnTo>
                    <a:pt x="0" y="1036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3126" b="-23126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3889248" cy="10553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 b="1">
                  <a:solidFill>
                    <a:srgbClr val="3E291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Safer inspection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288536" y="7680960"/>
            <a:ext cx="3218688" cy="777240"/>
            <a:chOff x="0" y="0"/>
            <a:chExt cx="4291584" cy="10363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291584" cy="1036320"/>
            </a:xfrm>
            <a:custGeom>
              <a:avLst/>
              <a:gdLst/>
              <a:ahLst/>
              <a:cxnLst/>
              <a:rect l="l" t="t" r="r" b="b"/>
              <a:pathLst>
                <a:path w="4291584" h="1036320">
                  <a:moveTo>
                    <a:pt x="0" y="172720"/>
                  </a:moveTo>
                  <a:cubicBezTo>
                    <a:pt x="0" y="77343"/>
                    <a:pt x="77343" y="0"/>
                    <a:pt x="172720" y="0"/>
                  </a:cubicBezTo>
                  <a:lnTo>
                    <a:pt x="4118864" y="0"/>
                  </a:lnTo>
                  <a:cubicBezTo>
                    <a:pt x="4214241" y="0"/>
                    <a:pt x="4291584" y="77343"/>
                    <a:pt x="4291584" y="172720"/>
                  </a:cubicBezTo>
                  <a:lnTo>
                    <a:pt x="4291584" y="863600"/>
                  </a:lnTo>
                  <a:cubicBezTo>
                    <a:pt x="4291584" y="958977"/>
                    <a:pt x="4214241" y="1036320"/>
                    <a:pt x="4118864" y="1036320"/>
                  </a:cubicBezTo>
                  <a:lnTo>
                    <a:pt x="172720" y="1036320"/>
                  </a:lnTo>
                  <a:cubicBezTo>
                    <a:pt x="77343" y="1036320"/>
                    <a:pt x="0" y="958977"/>
                    <a:pt x="0" y="863600"/>
                  </a:cubicBezTo>
                  <a:close/>
                </a:path>
              </a:pathLst>
            </a:custGeom>
            <a:solidFill>
              <a:srgbClr val="C8862B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4288536" y="7680960"/>
            <a:ext cx="3218688" cy="777240"/>
            <a:chOff x="0" y="0"/>
            <a:chExt cx="4291584" cy="103632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291584" cy="1036320"/>
            </a:xfrm>
            <a:custGeom>
              <a:avLst/>
              <a:gdLst/>
              <a:ahLst/>
              <a:cxnLst/>
              <a:rect l="l" t="t" r="r" b="b"/>
              <a:pathLst>
                <a:path w="4291584" h="1036320">
                  <a:moveTo>
                    <a:pt x="0" y="0"/>
                  </a:moveTo>
                  <a:lnTo>
                    <a:pt x="4291584" y="0"/>
                  </a:lnTo>
                  <a:lnTo>
                    <a:pt x="4291584" y="1036320"/>
                  </a:lnTo>
                  <a:lnTo>
                    <a:pt x="0" y="1036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0690" b="-30690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4291584" cy="10553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 b="1">
                  <a:solidFill>
                    <a:srgbClr val="3E291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Affordable &amp; local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872984" y="7680960"/>
            <a:ext cx="4274820" cy="777240"/>
            <a:chOff x="0" y="0"/>
            <a:chExt cx="5699760" cy="103632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699760" cy="1036320"/>
            </a:xfrm>
            <a:custGeom>
              <a:avLst/>
              <a:gdLst/>
              <a:ahLst/>
              <a:cxnLst/>
              <a:rect l="l" t="t" r="r" b="b"/>
              <a:pathLst>
                <a:path w="5699760" h="1036320">
                  <a:moveTo>
                    <a:pt x="0" y="172720"/>
                  </a:moveTo>
                  <a:cubicBezTo>
                    <a:pt x="0" y="77343"/>
                    <a:pt x="77343" y="0"/>
                    <a:pt x="172720" y="0"/>
                  </a:cubicBezTo>
                  <a:lnTo>
                    <a:pt x="5527040" y="0"/>
                  </a:lnTo>
                  <a:cubicBezTo>
                    <a:pt x="5622417" y="0"/>
                    <a:pt x="5699760" y="77343"/>
                    <a:pt x="5699760" y="172720"/>
                  </a:cubicBezTo>
                  <a:lnTo>
                    <a:pt x="5699760" y="863600"/>
                  </a:lnTo>
                  <a:cubicBezTo>
                    <a:pt x="5699760" y="958977"/>
                    <a:pt x="5622417" y="1036320"/>
                    <a:pt x="5527040" y="1036320"/>
                  </a:cubicBezTo>
                  <a:lnTo>
                    <a:pt x="172720" y="1036320"/>
                  </a:lnTo>
                  <a:cubicBezTo>
                    <a:pt x="77343" y="1036320"/>
                    <a:pt x="0" y="958977"/>
                    <a:pt x="0" y="863600"/>
                  </a:cubicBezTo>
                  <a:close/>
                </a:path>
              </a:pathLst>
            </a:custGeom>
            <a:solidFill>
              <a:srgbClr val="C8862B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7872984" y="7680960"/>
            <a:ext cx="4274820" cy="777240"/>
            <a:chOff x="0" y="0"/>
            <a:chExt cx="5699760" cy="103632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699760" cy="1036320"/>
            </a:xfrm>
            <a:custGeom>
              <a:avLst/>
              <a:gdLst/>
              <a:ahLst/>
              <a:cxnLst/>
              <a:rect l="l" t="t" r="r" b="b"/>
              <a:pathLst>
                <a:path w="5699760" h="1036320">
                  <a:moveTo>
                    <a:pt x="0" y="0"/>
                  </a:moveTo>
                  <a:lnTo>
                    <a:pt x="5699760" y="0"/>
                  </a:lnTo>
                  <a:lnTo>
                    <a:pt x="5699760" y="1036320"/>
                  </a:lnTo>
                  <a:lnTo>
                    <a:pt x="0" y="1036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7167" b="-57167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5699760" cy="10553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 b="1">
                  <a:solidFill>
                    <a:srgbClr val="3E291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Simple — no expert needed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513564" y="7680960"/>
            <a:ext cx="3671316" cy="777240"/>
            <a:chOff x="0" y="0"/>
            <a:chExt cx="4895088" cy="103632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895088" cy="1036320"/>
            </a:xfrm>
            <a:custGeom>
              <a:avLst/>
              <a:gdLst/>
              <a:ahLst/>
              <a:cxnLst/>
              <a:rect l="l" t="t" r="r" b="b"/>
              <a:pathLst>
                <a:path w="4895088" h="1036320">
                  <a:moveTo>
                    <a:pt x="0" y="172720"/>
                  </a:moveTo>
                  <a:cubicBezTo>
                    <a:pt x="0" y="77343"/>
                    <a:pt x="77343" y="0"/>
                    <a:pt x="172720" y="0"/>
                  </a:cubicBezTo>
                  <a:lnTo>
                    <a:pt x="4722368" y="0"/>
                  </a:lnTo>
                  <a:cubicBezTo>
                    <a:pt x="4817745" y="0"/>
                    <a:pt x="4895088" y="77343"/>
                    <a:pt x="4895088" y="172720"/>
                  </a:cubicBezTo>
                  <a:lnTo>
                    <a:pt x="4895088" y="863600"/>
                  </a:lnTo>
                  <a:cubicBezTo>
                    <a:pt x="4895088" y="958977"/>
                    <a:pt x="4817745" y="1036320"/>
                    <a:pt x="4722368" y="1036320"/>
                  </a:cubicBezTo>
                  <a:lnTo>
                    <a:pt x="172720" y="1036320"/>
                  </a:lnTo>
                  <a:cubicBezTo>
                    <a:pt x="77343" y="1036320"/>
                    <a:pt x="0" y="958977"/>
                    <a:pt x="0" y="863600"/>
                  </a:cubicBezTo>
                  <a:close/>
                </a:path>
              </a:pathLst>
            </a:custGeom>
            <a:solidFill>
              <a:srgbClr val="C8862B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2513564" y="7680960"/>
            <a:ext cx="3671316" cy="777240"/>
            <a:chOff x="0" y="0"/>
            <a:chExt cx="4895088" cy="103632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895088" cy="1036320"/>
            </a:xfrm>
            <a:custGeom>
              <a:avLst/>
              <a:gdLst/>
              <a:ahLst/>
              <a:cxnLst/>
              <a:rect l="l" t="t" r="r" b="b"/>
              <a:pathLst>
                <a:path w="4895088" h="1036320">
                  <a:moveTo>
                    <a:pt x="0" y="0"/>
                  </a:moveTo>
                  <a:lnTo>
                    <a:pt x="4895088" y="0"/>
                  </a:lnTo>
                  <a:lnTo>
                    <a:pt x="4895088" y="1036320"/>
                  </a:lnTo>
                  <a:lnTo>
                    <a:pt x="0" y="1036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2038" b="-42038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19050"/>
              <a:ext cx="4895088" cy="10553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 b="1">
                  <a:solidFill>
                    <a:srgbClr val="3E291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Works through monsoon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4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500987" y="1945967"/>
            <a:ext cx="5476484" cy="1472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0"/>
              </a:lnSpc>
            </a:pPr>
            <a:r>
              <a:rPr lang="en-US" sz="348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IDEATE  : FROM 3 "HOW MIGHT WE"s</a:t>
            </a:r>
          </a:p>
          <a:p>
            <a:pPr algn="l">
              <a:lnSpc>
                <a:spcPts val="3760"/>
              </a:lnSpc>
            </a:pPr>
            <a:r>
              <a:rPr lang="en-US" sz="348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TO THE TOP 6 CONCEPTS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176853" y="3643589"/>
            <a:ext cx="7189639" cy="4307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6372" lvl="2" indent="-155457" algn="l">
              <a:lnSpc>
                <a:spcPts val="4303"/>
              </a:lnSpc>
              <a:buAutoNum type="arabicPeriod"/>
            </a:pPr>
            <a:r>
              <a:rPr lang="en-US" sz="20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Acrylic Window with sliding cover for visual hive checks</a:t>
            </a:r>
          </a:p>
          <a:p>
            <a:pPr marL="466372" lvl="2" indent="-155457" algn="l">
              <a:lnSpc>
                <a:spcPts val="4303"/>
              </a:lnSpc>
              <a:buAutoNum type="arabicPeriod"/>
            </a:pPr>
            <a:r>
              <a:rPr lang="en-US" sz="20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External Sugar Syrup Feeder with outside refill funnel</a:t>
            </a:r>
          </a:p>
          <a:p>
            <a:pPr marL="466372" lvl="2" indent="-155457" algn="l">
              <a:lnSpc>
                <a:spcPts val="4303"/>
              </a:lnSpc>
              <a:buAutoNum type="arabicPeriod"/>
            </a:pPr>
            <a:r>
              <a:rPr lang="en-US" sz="20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Clip-On Modular Super for hive expansion</a:t>
            </a:r>
          </a:p>
          <a:p>
            <a:pPr marL="466372" lvl="2" indent="-155457" algn="l">
              <a:lnSpc>
                <a:spcPts val="4303"/>
              </a:lnSpc>
              <a:buAutoNum type="arabicPeriod"/>
            </a:pPr>
            <a:r>
              <a:rPr lang="en-US" sz="20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Auto-Harvest Flow System with tilt pipe for honey extraction</a:t>
            </a:r>
            <a:r>
              <a:rPr sz="1100" b="1" baseline="30000">
                <a:solidFill>
                  <a:srgbClr val="C8862B"/>
                </a:solidFill>
                <a:latin typeface="Poppins"/>
              </a:rPr>
              <a:t> [4,5]</a:t>
            </a:r>
          </a:p>
          <a:p>
            <a:pPr marL="466372" lvl="2" indent="-155457" algn="l">
              <a:lnSpc>
                <a:spcPts val="4303"/>
              </a:lnSpc>
              <a:buAutoNum type="arabicPeriod"/>
            </a:pPr>
            <a:r>
              <a:rPr lang="en-US" sz="20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Donut Water Ring for pest protection</a:t>
            </a:r>
          </a:p>
          <a:p>
            <a:pPr marL="466372" lvl="2" indent="-155457" algn="l">
              <a:lnSpc>
                <a:spcPts val="4303"/>
              </a:lnSpc>
              <a:buAutoNum type="arabicPeriod"/>
            </a:pPr>
            <a:r>
              <a:rPr lang="en-US" sz="20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Internal Thermal Insulation using coir/jute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-6367205" y="1028700"/>
            <a:ext cx="14101686" cy="8229600"/>
            <a:chOff x="0" y="0"/>
            <a:chExt cx="18802248" cy="1097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802223" cy="10972800"/>
            </a:xfrm>
            <a:custGeom>
              <a:avLst/>
              <a:gdLst/>
              <a:ahLst/>
              <a:cxnLst/>
              <a:rect l="l" t="t" r="r" b="b"/>
              <a:pathLst>
                <a:path w="18802223" h="10972800">
                  <a:moveTo>
                    <a:pt x="1651" y="0"/>
                  </a:moveTo>
                  <a:lnTo>
                    <a:pt x="18800572" y="0"/>
                  </a:lnTo>
                  <a:cubicBezTo>
                    <a:pt x="18801080" y="0"/>
                    <a:pt x="18801460" y="127"/>
                    <a:pt x="18801714" y="508"/>
                  </a:cubicBezTo>
                  <a:cubicBezTo>
                    <a:pt x="18801969" y="889"/>
                    <a:pt x="18802223" y="1270"/>
                    <a:pt x="18802223" y="1651"/>
                  </a:cubicBezTo>
                  <a:lnTo>
                    <a:pt x="18802223" y="10971149"/>
                  </a:lnTo>
                  <a:cubicBezTo>
                    <a:pt x="18802223" y="10971657"/>
                    <a:pt x="18802096" y="10972038"/>
                    <a:pt x="18801714" y="10972292"/>
                  </a:cubicBezTo>
                  <a:cubicBezTo>
                    <a:pt x="18801335" y="10972546"/>
                    <a:pt x="18800953" y="10972800"/>
                    <a:pt x="18800572" y="10972800"/>
                  </a:cubicBezTo>
                  <a:lnTo>
                    <a:pt x="1651" y="10972800"/>
                  </a:lnTo>
                  <a:cubicBezTo>
                    <a:pt x="1143" y="10972800"/>
                    <a:pt x="762" y="10972673"/>
                    <a:pt x="508" y="10972292"/>
                  </a:cubicBezTo>
                  <a:cubicBezTo>
                    <a:pt x="254" y="10971911"/>
                    <a:pt x="0" y="10971530"/>
                    <a:pt x="0" y="10971149"/>
                  </a:cubicBezTo>
                  <a:lnTo>
                    <a:pt x="0" y="1651"/>
                  </a:lnTo>
                  <a:cubicBezTo>
                    <a:pt x="0" y="1270"/>
                    <a:pt x="127" y="762"/>
                    <a:pt x="508" y="508"/>
                  </a:cubicBezTo>
                  <a:cubicBezTo>
                    <a:pt x="889" y="254"/>
                    <a:pt x="1270" y="0"/>
                    <a:pt x="1651" y="0"/>
                  </a:cubicBezTo>
                  <a:close/>
                </a:path>
              </a:pathLst>
            </a:custGeom>
            <a:blipFill>
              <a:blip r:embed="rId2"/>
              <a:stretch>
                <a:fillRect l="-1192" r="-119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965681" y="1028700"/>
            <a:ext cx="1913506" cy="8229600"/>
            <a:chOff x="0" y="0"/>
            <a:chExt cx="2551341" cy="1097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51303" cy="10972800"/>
            </a:xfrm>
            <a:custGeom>
              <a:avLst/>
              <a:gdLst/>
              <a:ahLst/>
              <a:cxnLst/>
              <a:rect l="l" t="t" r="r" b="b"/>
              <a:pathLst>
                <a:path w="2551303" h="10972800">
                  <a:moveTo>
                    <a:pt x="12446" y="0"/>
                  </a:moveTo>
                  <a:lnTo>
                    <a:pt x="2538857" y="0"/>
                  </a:lnTo>
                  <a:cubicBezTo>
                    <a:pt x="2542159" y="0"/>
                    <a:pt x="2545334" y="1270"/>
                    <a:pt x="2547620" y="3683"/>
                  </a:cubicBezTo>
                  <a:cubicBezTo>
                    <a:pt x="2549906" y="6096"/>
                    <a:pt x="2551303" y="9144"/>
                    <a:pt x="2551303" y="12446"/>
                  </a:cubicBezTo>
                  <a:lnTo>
                    <a:pt x="2551303" y="10960354"/>
                  </a:lnTo>
                  <a:cubicBezTo>
                    <a:pt x="2551303" y="10967212"/>
                    <a:pt x="2545715" y="10972800"/>
                    <a:pt x="2538857" y="10972800"/>
                  </a:cubicBezTo>
                  <a:lnTo>
                    <a:pt x="12446" y="10972800"/>
                  </a:lnTo>
                  <a:cubicBezTo>
                    <a:pt x="9144" y="10972800"/>
                    <a:pt x="5969" y="10971530"/>
                    <a:pt x="3683" y="10969117"/>
                  </a:cubicBezTo>
                  <a:cubicBezTo>
                    <a:pt x="1397" y="10966704"/>
                    <a:pt x="0" y="10963656"/>
                    <a:pt x="0" y="10960354"/>
                  </a:cubicBezTo>
                  <a:lnTo>
                    <a:pt x="0" y="12446"/>
                  </a:lnTo>
                  <a:cubicBezTo>
                    <a:pt x="0" y="9144"/>
                    <a:pt x="1270" y="5969"/>
                    <a:pt x="3683" y="3683"/>
                  </a:cubicBezTo>
                  <a:cubicBezTo>
                    <a:pt x="6096" y="1397"/>
                    <a:pt x="9144" y="0"/>
                    <a:pt x="12446" y="0"/>
                  </a:cubicBezTo>
                  <a:close/>
                </a:path>
              </a:pathLst>
            </a:custGeom>
            <a:blipFill>
              <a:blip r:embed="rId3"/>
              <a:stretch>
                <a:fillRect l="-72574" r="-72575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C4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38225" y="1028700"/>
            <a:ext cx="18856538" cy="8229600"/>
            <a:chOff x="0" y="0"/>
            <a:chExt cx="25142050" cy="1097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142062" cy="10972800"/>
            </a:xfrm>
            <a:custGeom>
              <a:avLst/>
              <a:gdLst/>
              <a:ahLst/>
              <a:cxnLst/>
              <a:rect l="l" t="t" r="r" b="b"/>
              <a:pathLst>
                <a:path w="25142062" h="10972800">
                  <a:moveTo>
                    <a:pt x="1270" y="0"/>
                  </a:moveTo>
                  <a:lnTo>
                    <a:pt x="25140793" y="0"/>
                  </a:lnTo>
                  <a:cubicBezTo>
                    <a:pt x="25141428" y="0"/>
                    <a:pt x="25142062" y="508"/>
                    <a:pt x="25142062" y="1270"/>
                  </a:cubicBezTo>
                  <a:lnTo>
                    <a:pt x="25142062" y="10971530"/>
                  </a:lnTo>
                  <a:cubicBezTo>
                    <a:pt x="25142062" y="10972165"/>
                    <a:pt x="25141555" y="10972800"/>
                    <a:pt x="25140793" y="10972800"/>
                  </a:cubicBezTo>
                  <a:lnTo>
                    <a:pt x="1270" y="10972800"/>
                  </a:lnTo>
                  <a:cubicBezTo>
                    <a:pt x="635" y="10972800"/>
                    <a:pt x="0" y="10972292"/>
                    <a:pt x="0" y="10971530"/>
                  </a:cubicBezTo>
                  <a:lnTo>
                    <a:pt x="0" y="1270"/>
                  </a:lnTo>
                  <a:cubicBezTo>
                    <a:pt x="0" y="508"/>
                    <a:pt x="508" y="0"/>
                    <a:pt x="1270" y="0"/>
                  </a:cubicBezTo>
                  <a:close/>
                </a:path>
              </a:pathLst>
            </a:custGeom>
            <a:blipFill>
              <a:blip r:embed="rId2"/>
              <a:stretch>
                <a:fillRect t="-15302" b="-15302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2146544" y="1269054"/>
            <a:ext cx="7758103" cy="7296769"/>
          </a:xfrm>
          <a:custGeom>
            <a:avLst/>
            <a:gdLst/>
            <a:ahLst/>
            <a:cxnLst/>
            <a:rect l="l" t="t" r="r" b="b"/>
            <a:pathLst>
              <a:path w="7758103" h="7296769">
                <a:moveTo>
                  <a:pt x="0" y="0"/>
                </a:moveTo>
                <a:lnTo>
                  <a:pt x="7758103" y="0"/>
                </a:lnTo>
                <a:lnTo>
                  <a:pt x="7758103" y="7296769"/>
                </a:lnTo>
                <a:lnTo>
                  <a:pt x="0" y="72967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5" name="Group 5"/>
          <p:cNvGrpSpPr/>
          <p:nvPr/>
        </p:nvGrpSpPr>
        <p:grpSpPr>
          <a:xfrm>
            <a:off x="-1234773" y="6627419"/>
            <a:ext cx="4196277" cy="3864178"/>
            <a:chOff x="0" y="0"/>
            <a:chExt cx="5595036" cy="5152238"/>
          </a:xfrm>
        </p:grpSpPr>
        <p:sp>
          <p:nvSpPr>
            <p:cNvPr id="6" name="Freeform 6"/>
            <p:cNvSpPr/>
            <p:nvPr/>
          </p:nvSpPr>
          <p:spPr>
            <a:xfrm>
              <a:off x="-90" y="36"/>
              <a:ext cx="5595009" cy="5152070"/>
            </a:xfrm>
            <a:custGeom>
              <a:avLst/>
              <a:gdLst/>
              <a:ahLst/>
              <a:cxnLst/>
              <a:rect l="l" t="t" r="r" b="b"/>
              <a:pathLst>
                <a:path w="5595009" h="5152070">
                  <a:moveTo>
                    <a:pt x="5301705" y="1801459"/>
                  </a:moveTo>
                  <a:cubicBezTo>
                    <a:pt x="4807294" y="840323"/>
                    <a:pt x="3810979" y="135854"/>
                    <a:pt x="2749513" y="25237"/>
                  </a:cubicBezTo>
                  <a:cubicBezTo>
                    <a:pt x="1883246" y="-107605"/>
                    <a:pt x="1313270" y="300446"/>
                    <a:pt x="847815" y="862548"/>
                  </a:cubicBezTo>
                  <a:cubicBezTo>
                    <a:pt x="382360" y="1424650"/>
                    <a:pt x="134837" y="2140803"/>
                    <a:pt x="34888" y="2863433"/>
                  </a:cubicBezTo>
                  <a:cubicBezTo>
                    <a:pt x="-17944" y="3244941"/>
                    <a:pt x="-28739" y="3649690"/>
                    <a:pt x="133059" y="3999321"/>
                  </a:cubicBezTo>
                  <a:cubicBezTo>
                    <a:pt x="338037" y="4442678"/>
                    <a:pt x="785839" y="4724745"/>
                    <a:pt x="1241642" y="4900132"/>
                  </a:cubicBezTo>
                  <a:cubicBezTo>
                    <a:pt x="2467827" y="5371810"/>
                    <a:pt x="3973158" y="5189057"/>
                    <a:pt x="4927436" y="4285325"/>
                  </a:cubicBezTo>
                  <a:cubicBezTo>
                    <a:pt x="5226013" y="4002623"/>
                    <a:pt x="5470742" y="3648420"/>
                    <a:pt x="5558118" y="3246465"/>
                  </a:cubicBezTo>
                  <a:cubicBezTo>
                    <a:pt x="5664290" y="2758785"/>
                    <a:pt x="5529797" y="2245070"/>
                    <a:pt x="5301578" y="1801205"/>
                  </a:cubicBezTo>
                  <a:close/>
                </a:path>
              </a:pathLst>
            </a:custGeom>
            <a:blipFill>
              <a:blip r:embed="rId4"/>
              <a:stretch>
                <a:fillRect l="1" t="-4297" r="-2" b="-4299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2961503" y="2824639"/>
            <a:ext cx="5926255" cy="784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5"/>
              </a:lnSpc>
            </a:pPr>
            <a:r>
              <a:rPr lang="en-US" sz="271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SOLUTION: SAFE INSPECTION &amp; FEEDING UPGRADE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023683" y="4046306"/>
            <a:ext cx="5926255" cy="3410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5900" lvl="1" indent="-217950" algn="l">
              <a:lnSpc>
                <a:spcPts val="3392"/>
              </a:lnSpc>
              <a:buFont typeface="Arial"/>
              <a:buChar char="•"/>
            </a:pPr>
            <a:r>
              <a:rPr lang="en-US" sz="201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Acrylic window allows visual hive inspection without opening the lid</a:t>
            </a:r>
          </a:p>
          <a:p>
            <a:pPr marL="435900" lvl="1" indent="-217950" algn="l">
              <a:lnSpc>
                <a:spcPts val="3392"/>
              </a:lnSpc>
              <a:buFont typeface="Arial"/>
              <a:buChar char="•"/>
            </a:pPr>
            <a:r>
              <a:rPr lang="en-US" sz="201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External feeder enables syrup feeding without hive disruption</a:t>
            </a:r>
          </a:p>
          <a:p>
            <a:pPr marL="435900" lvl="1" indent="-217950" algn="l">
              <a:lnSpc>
                <a:spcPts val="3392"/>
              </a:lnSpc>
              <a:buFont typeface="Arial"/>
              <a:buChar char="•"/>
            </a:pPr>
            <a:r>
              <a:rPr lang="en-US" sz="201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Retrofit design fits existing ₹2,500 wooden boxes affordably</a:t>
            </a:r>
          </a:p>
          <a:p>
            <a:pPr marL="435900" lvl="1" indent="-217950" algn="l">
              <a:lnSpc>
                <a:spcPts val="3392"/>
              </a:lnSpc>
              <a:buFont typeface="Arial"/>
              <a:buChar char="•"/>
            </a:pPr>
            <a:r>
              <a:rPr lang="en-US" sz="201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Non-disruptive design preserves hive micro-climate and reduces sting risk</a:t>
            </a:r>
            <a:r>
              <a:rPr sz="1100" b="1" baseline="30000">
                <a:solidFill>
                  <a:srgbClr val="C8862B"/>
                </a:solidFill>
                <a:latin typeface="Poppins"/>
              </a:rPr>
              <a:t> [1]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DB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5840" y="666750"/>
            <a:ext cx="1627632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1">
                <a:solidFill>
                  <a:srgbClr val="C8862B"/>
                </a:solidFill>
                <a:latin typeface="Poppins Bold"/>
                <a:ea typeface="Poppins Bold"/>
                <a:cs typeface="Poppins Bold"/>
                <a:sym typeface="Poppins Bold"/>
              </a:rPr>
              <a:t>04 · PROTOTYPE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05840" y="1059180"/>
            <a:ext cx="16276320" cy="95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400" b="1">
                <a:solidFill>
                  <a:srgbClr val="3E291F"/>
                </a:solidFill>
                <a:latin typeface="Poppins Bold"/>
                <a:ea typeface="Poppins Bold"/>
                <a:cs typeface="Poppins Bold"/>
                <a:sym typeface="Poppins Bold"/>
              </a:rPr>
              <a:t>Design Realised — Safe Inspection &amp; Feeding Upgrade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24128" y="1920240"/>
            <a:ext cx="2011680" cy="82296"/>
            <a:chOff x="0" y="0"/>
            <a:chExt cx="2682240" cy="10972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82240" cy="109728"/>
            </a:xfrm>
            <a:custGeom>
              <a:avLst/>
              <a:gdLst/>
              <a:ahLst/>
              <a:cxnLst/>
              <a:rect l="l" t="t" r="r" b="b"/>
              <a:pathLst>
                <a:path w="2682240" h="109728">
                  <a:moveTo>
                    <a:pt x="0" y="0"/>
                  </a:moveTo>
                  <a:lnTo>
                    <a:pt x="2682240" y="0"/>
                  </a:lnTo>
                  <a:lnTo>
                    <a:pt x="268224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C8862B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203223" y="2623763"/>
            <a:ext cx="4984533" cy="3389483"/>
            <a:chOff x="0" y="0"/>
            <a:chExt cx="6096000" cy="4145280"/>
          </a:xfrm>
        </p:grpSpPr>
        <p:sp>
          <p:nvSpPr>
            <p:cNvPr id="7" name="Freeform 7" descr="frontview_hive.png"/>
            <p:cNvSpPr/>
            <p:nvPr/>
          </p:nvSpPr>
          <p:spPr>
            <a:xfrm>
              <a:off x="0" y="0"/>
              <a:ext cx="6096000" cy="4145280"/>
            </a:xfrm>
            <a:custGeom>
              <a:avLst/>
              <a:gdLst/>
              <a:ahLst/>
              <a:cxnLst/>
              <a:rect l="l" t="t" r="r" b="b"/>
              <a:pathLst>
                <a:path w="6096000" h="4145280">
                  <a:moveTo>
                    <a:pt x="0" y="0"/>
                  </a:moveTo>
                  <a:lnTo>
                    <a:pt x="6096000" y="0"/>
                  </a:lnTo>
                  <a:lnTo>
                    <a:pt x="6096000" y="4145280"/>
                  </a:lnTo>
                  <a:lnTo>
                    <a:pt x="0" y="4145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8192" b="-18192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118901" y="6198948"/>
            <a:ext cx="4984533" cy="507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31"/>
              </a:lnSpc>
            </a:pPr>
            <a:r>
              <a:rPr lang="en-US" sz="1526" b="1">
                <a:solidFill>
                  <a:srgbClr val="6B5B47"/>
                </a:solidFill>
                <a:latin typeface="Poppins Bold"/>
                <a:ea typeface="Poppins Bold"/>
                <a:cs typeface="Poppins Bold"/>
                <a:sym typeface="Poppins Bold"/>
              </a:rPr>
              <a:t>Full hive — ISI standard</a:t>
            </a:r>
            <a:r>
              <a:rPr sz="1100" b="1" baseline="30000">
                <a:solidFill>
                  <a:srgbClr val="C8862B"/>
                </a:solidFill>
                <a:latin typeface="Poppins"/>
              </a:rPr>
              <a:t> [1]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651733" y="2719300"/>
            <a:ext cx="4984533" cy="3389483"/>
            <a:chOff x="0" y="0"/>
            <a:chExt cx="6096000" cy="4145280"/>
          </a:xfrm>
        </p:grpSpPr>
        <p:sp>
          <p:nvSpPr>
            <p:cNvPr id="10" name="Freeform 10" descr="Inspection_window.png"/>
            <p:cNvSpPr/>
            <p:nvPr/>
          </p:nvSpPr>
          <p:spPr>
            <a:xfrm>
              <a:off x="0" y="0"/>
              <a:ext cx="6096000" cy="4145280"/>
            </a:xfrm>
            <a:custGeom>
              <a:avLst/>
              <a:gdLst/>
              <a:ahLst/>
              <a:cxnLst/>
              <a:rect l="l" t="t" r="r" b="b"/>
              <a:pathLst>
                <a:path w="6096000" h="4145280">
                  <a:moveTo>
                    <a:pt x="0" y="0"/>
                  </a:moveTo>
                  <a:lnTo>
                    <a:pt x="6096000" y="0"/>
                  </a:lnTo>
                  <a:lnTo>
                    <a:pt x="6096000" y="4145280"/>
                  </a:lnTo>
                  <a:lnTo>
                    <a:pt x="0" y="4145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151" b="-10151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6651733" y="6198948"/>
            <a:ext cx="4984533" cy="507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31"/>
              </a:lnSpc>
            </a:pPr>
            <a:r>
              <a:rPr lang="en-US" sz="1526" b="1">
                <a:solidFill>
                  <a:srgbClr val="6B5B47"/>
                </a:solidFill>
                <a:latin typeface="Poppins Bold"/>
                <a:ea typeface="Poppins Bold"/>
                <a:cs typeface="Poppins Bold"/>
                <a:sym typeface="Poppins Bold"/>
              </a:rPr>
              <a:t>Acrylic inspection window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2184565" y="2719300"/>
            <a:ext cx="4984533" cy="3389483"/>
            <a:chOff x="0" y="0"/>
            <a:chExt cx="6096000" cy="4145280"/>
          </a:xfrm>
        </p:grpSpPr>
        <p:sp>
          <p:nvSpPr>
            <p:cNvPr id="13" name="Freeform 13" descr="feeder.png"/>
            <p:cNvSpPr/>
            <p:nvPr/>
          </p:nvSpPr>
          <p:spPr>
            <a:xfrm>
              <a:off x="0" y="0"/>
              <a:ext cx="6096000" cy="4145280"/>
            </a:xfrm>
            <a:custGeom>
              <a:avLst/>
              <a:gdLst/>
              <a:ahLst/>
              <a:cxnLst/>
              <a:rect l="l" t="t" r="r" b="b"/>
              <a:pathLst>
                <a:path w="6096000" h="4145280">
                  <a:moveTo>
                    <a:pt x="0" y="0"/>
                  </a:moveTo>
                  <a:lnTo>
                    <a:pt x="6096000" y="0"/>
                  </a:lnTo>
                  <a:lnTo>
                    <a:pt x="6096000" y="4145280"/>
                  </a:lnTo>
                  <a:lnTo>
                    <a:pt x="0" y="4145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875" b="-12875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2184565" y="6198948"/>
            <a:ext cx="4984533" cy="507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31"/>
              </a:lnSpc>
            </a:pPr>
            <a:r>
              <a:rPr lang="en-US" sz="1526" b="1">
                <a:solidFill>
                  <a:srgbClr val="6B5B47"/>
                </a:solidFill>
                <a:latin typeface="Poppins Bold"/>
                <a:ea typeface="Poppins Bold"/>
                <a:cs typeface="Poppins Bold"/>
                <a:sym typeface="Poppins Bold"/>
              </a:rPr>
              <a:t>External top feeder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05840" y="6793230"/>
            <a:ext cx="16276320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1">
                <a:solidFill>
                  <a:srgbClr val="C8862B"/>
                </a:solidFill>
                <a:latin typeface="Poppins Bold"/>
                <a:ea typeface="Poppins Bold"/>
                <a:cs typeface="Poppins Bold"/>
                <a:sym typeface="Poppins Bold"/>
              </a:rPr>
              <a:t>KEY UPGRADES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05840" y="7240905"/>
            <a:ext cx="7955280" cy="1195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3"/>
              </a:lnSpc>
            </a:pPr>
            <a:r>
              <a:rPr lang="en-US" sz="1899">
                <a:solidFill>
                  <a:srgbClr val="3E291F"/>
                </a:solidFill>
                <a:latin typeface="Poppins"/>
                <a:ea typeface="Poppins"/>
                <a:cs typeface="Poppins"/>
                <a:sym typeface="Poppins"/>
              </a:rPr>
              <a:t>•  Dual acrylic inspection windows (left + back) with sliding shutters</a:t>
            </a:r>
          </a:p>
          <a:p>
            <a:pPr algn="l">
              <a:lnSpc>
                <a:spcPts val="2393"/>
              </a:lnSpc>
            </a:pPr>
            <a:r>
              <a:rPr lang="en-US" sz="1899">
                <a:solidFill>
                  <a:srgbClr val="3E291F"/>
                </a:solidFill>
                <a:latin typeface="Poppins"/>
                <a:ea typeface="Poppins"/>
                <a:cs typeface="Poppins"/>
                <a:sym typeface="Poppins"/>
              </a:rPr>
              <a:t>•  External top feeder — refill syrup without opening the hive</a:t>
            </a:r>
          </a:p>
          <a:p>
            <a:pPr algn="l">
              <a:lnSpc>
                <a:spcPts val="2393"/>
              </a:lnSpc>
            </a:pPr>
            <a:r>
              <a:rPr lang="en-US" sz="1899">
                <a:solidFill>
                  <a:srgbClr val="3E291F"/>
                </a:solidFill>
                <a:latin typeface="Poppins"/>
                <a:ea typeface="Poppins"/>
                <a:cs typeface="Poppins"/>
                <a:sym typeface="Poppins"/>
              </a:rPr>
              <a:t>•  Flow-harvest frames: pipe → tap → ground collection jar</a:t>
            </a:r>
            <a:r>
              <a:rPr sz="1100" b="1" baseline="30000">
                <a:solidFill>
                  <a:srgbClr val="C8862B"/>
                </a:solidFill>
                <a:latin typeface="Poppins"/>
              </a:rPr>
              <a:t> [4,5]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235440" y="7240905"/>
            <a:ext cx="8046720" cy="1490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3"/>
              </a:lnSpc>
            </a:pPr>
            <a:r>
              <a:rPr lang="en-US" sz="1899">
                <a:solidFill>
                  <a:srgbClr val="3E291F"/>
                </a:solidFill>
                <a:latin typeface="Poppins"/>
                <a:ea typeface="Poppins"/>
                <a:cs typeface="Poppins"/>
                <a:sym typeface="Poppins"/>
              </a:rPr>
              <a:t>•  10 mm XPS internal insulation holds the 35°C brood micro-climate</a:t>
            </a:r>
            <a:r>
              <a:rPr sz="1100" b="1" baseline="30000">
                <a:solidFill>
                  <a:srgbClr val="C8862B"/>
                </a:solidFill>
                <a:latin typeface="Poppins"/>
              </a:rPr>
              <a:t> [1]</a:t>
            </a:r>
          </a:p>
          <a:p>
            <a:pPr algn="l">
              <a:lnSpc>
                <a:spcPts val="2393"/>
              </a:lnSpc>
            </a:pPr>
            <a:r>
              <a:rPr lang="en-US" sz="1899">
                <a:solidFill>
                  <a:srgbClr val="3E291F"/>
                </a:solidFill>
                <a:latin typeface="Poppins"/>
                <a:ea typeface="Poppins"/>
                <a:cs typeface="Poppins"/>
                <a:sym typeface="Poppins"/>
              </a:rPr>
              <a:t>•  Donut water-ring ant moat that doubles as a bee waterer</a:t>
            </a:r>
          </a:p>
          <a:p>
            <a:pPr algn="l">
              <a:lnSpc>
                <a:spcPts val="2393"/>
              </a:lnSpc>
            </a:pPr>
            <a:r>
              <a:rPr lang="en-US" sz="1899">
                <a:solidFill>
                  <a:srgbClr val="3E291F"/>
                </a:solidFill>
                <a:latin typeface="Poppins"/>
                <a:ea typeface="Poppins"/>
                <a:cs typeface="Poppins"/>
                <a:sym typeface="Poppins"/>
              </a:rPr>
              <a:t>•  Retrofits any standard ₹2,500 wooden box — no structural change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05840" y="9820275"/>
            <a:ext cx="1627632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B5B47"/>
                </a:solidFill>
                <a:latin typeface="Poppins"/>
                <a:ea typeface="Poppins"/>
                <a:cs typeface="Poppins"/>
                <a:sym typeface="Poppins"/>
              </a:rPr>
              <a:t>Interactive 3D visualiser built procedurally with Three.js (no external models).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E29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5840" y="666750"/>
            <a:ext cx="1627632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1">
                <a:solidFill>
                  <a:srgbClr val="C8862B"/>
                </a:solidFill>
                <a:latin typeface="Poppins Bold"/>
                <a:ea typeface="Poppins Bold"/>
                <a:cs typeface="Poppins Bold"/>
                <a:sym typeface="Poppins Bold"/>
              </a:rPr>
              <a:t>05 · TEST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05840" y="1049655"/>
            <a:ext cx="16276320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Usability Validation Plan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24128" y="1920240"/>
            <a:ext cx="2011680" cy="82296"/>
            <a:chOff x="0" y="0"/>
            <a:chExt cx="2682240" cy="10972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82240" cy="109728"/>
            </a:xfrm>
            <a:custGeom>
              <a:avLst/>
              <a:gdLst/>
              <a:ahLst/>
              <a:cxnLst/>
              <a:rect l="l" t="t" r="r" b="b"/>
              <a:pathLst>
                <a:path w="2682240" h="109728">
                  <a:moveTo>
                    <a:pt x="0" y="0"/>
                  </a:moveTo>
                  <a:lnTo>
                    <a:pt x="2682240" y="0"/>
                  </a:lnTo>
                  <a:lnTo>
                    <a:pt x="268224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C8862B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05840" y="2880360"/>
            <a:ext cx="685800" cy="685800"/>
            <a:chOff x="0" y="0"/>
            <a:chExt cx="914400" cy="914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C8862B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005840" y="2880360"/>
            <a:ext cx="685800" cy="685800"/>
            <a:chOff x="0" y="0"/>
            <a:chExt cx="914400" cy="914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914400" cy="9429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3E291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920240" y="2880360"/>
            <a:ext cx="8412480" cy="685800"/>
            <a:chOff x="0" y="0"/>
            <a:chExt cx="11216640" cy="914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216640" cy="914400"/>
            </a:xfrm>
            <a:custGeom>
              <a:avLst/>
              <a:gdLst/>
              <a:ahLst/>
              <a:cxnLst/>
              <a:rect l="l" t="t" r="r" b="b"/>
              <a:pathLst>
                <a:path w="11216640" h="914400">
                  <a:moveTo>
                    <a:pt x="0" y="0"/>
                  </a:moveTo>
                  <a:lnTo>
                    <a:pt x="11216640" y="0"/>
                  </a:lnTo>
                  <a:lnTo>
                    <a:pt x="11216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9016" b="-189016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11216640" cy="9429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6"/>
                </a:lnSpc>
              </a:pPr>
              <a:r>
                <a:rPr lang="en-US" sz="1600">
                  <a:solidFill>
                    <a:srgbClr val="ECDBC2"/>
                  </a:solidFill>
                  <a:latin typeface="Poppins"/>
                  <a:ea typeface="Poppins"/>
                  <a:cs typeface="Poppins"/>
                  <a:sym typeface="Poppins"/>
                </a:rPr>
                <a:t>Installation usability — fit the module with hand tools, no hive opening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05840" y="3749040"/>
            <a:ext cx="685800" cy="685800"/>
            <a:chOff x="0" y="0"/>
            <a:chExt cx="914400" cy="914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C8862B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005840" y="3749040"/>
            <a:ext cx="685800" cy="685800"/>
            <a:chOff x="0" y="0"/>
            <a:chExt cx="914400" cy="914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914400" cy="9429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3E291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920240" y="3749040"/>
            <a:ext cx="8412480" cy="685800"/>
            <a:chOff x="0" y="0"/>
            <a:chExt cx="11216640" cy="9144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216640" cy="914400"/>
            </a:xfrm>
            <a:custGeom>
              <a:avLst/>
              <a:gdLst/>
              <a:ahLst/>
              <a:cxnLst/>
              <a:rect l="l" t="t" r="r" b="b"/>
              <a:pathLst>
                <a:path w="11216640" h="914400">
                  <a:moveTo>
                    <a:pt x="0" y="0"/>
                  </a:moveTo>
                  <a:lnTo>
                    <a:pt x="11216640" y="0"/>
                  </a:lnTo>
                  <a:lnTo>
                    <a:pt x="11216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9016" b="-189016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11216640" cy="9429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6"/>
                </a:lnSpc>
              </a:pPr>
              <a:r>
                <a:rPr lang="en-US" sz="1600">
                  <a:solidFill>
                    <a:srgbClr val="ECDBC2"/>
                  </a:solidFill>
                  <a:latin typeface="Poppins"/>
                  <a:ea typeface="Poppins"/>
                  <a:cs typeface="Poppins"/>
                  <a:sym typeface="Poppins"/>
                </a:rPr>
                <a:t>Inspection window — answer 5 colony-status questions vs. ground truth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05840" y="4617720"/>
            <a:ext cx="685800" cy="685800"/>
            <a:chOff x="0" y="0"/>
            <a:chExt cx="914400" cy="914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C8862B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005840" y="4617720"/>
            <a:ext cx="685800" cy="685800"/>
            <a:chOff x="0" y="0"/>
            <a:chExt cx="914400" cy="9144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28575"/>
              <a:ext cx="914400" cy="9429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3E291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920240" y="4617720"/>
            <a:ext cx="8412480" cy="685800"/>
            <a:chOff x="0" y="0"/>
            <a:chExt cx="11216640" cy="9144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1216640" cy="914400"/>
            </a:xfrm>
            <a:custGeom>
              <a:avLst/>
              <a:gdLst/>
              <a:ahLst/>
              <a:cxnLst/>
              <a:rect l="l" t="t" r="r" b="b"/>
              <a:pathLst>
                <a:path w="11216640" h="914400">
                  <a:moveTo>
                    <a:pt x="0" y="0"/>
                  </a:moveTo>
                  <a:lnTo>
                    <a:pt x="11216640" y="0"/>
                  </a:lnTo>
                  <a:lnTo>
                    <a:pt x="11216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9016" b="-189016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28575"/>
              <a:ext cx="11216640" cy="9429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6"/>
                </a:lnSpc>
              </a:pPr>
              <a:r>
                <a:rPr lang="en-US" sz="1600">
                  <a:solidFill>
                    <a:srgbClr val="ECDBC2"/>
                  </a:solidFill>
                  <a:latin typeface="Poppins"/>
                  <a:ea typeface="Poppins"/>
                  <a:cs typeface="Poppins"/>
                  <a:sym typeface="Poppins"/>
                </a:rPr>
                <a:t>Feeder usability — refill reservoir, confirm bees feeding, zero drowning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05840" y="5486400"/>
            <a:ext cx="685800" cy="685800"/>
            <a:chOff x="0" y="0"/>
            <a:chExt cx="914400" cy="9144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C8862B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005840" y="5486400"/>
            <a:ext cx="685800" cy="685800"/>
            <a:chOff x="0" y="0"/>
            <a:chExt cx="914400" cy="9144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28575"/>
              <a:ext cx="914400" cy="9429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3E291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920240" y="5486400"/>
            <a:ext cx="8412480" cy="685800"/>
            <a:chOff x="0" y="0"/>
            <a:chExt cx="11216640" cy="9144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1216640" cy="914400"/>
            </a:xfrm>
            <a:custGeom>
              <a:avLst/>
              <a:gdLst/>
              <a:ahLst/>
              <a:cxnLst/>
              <a:rect l="l" t="t" r="r" b="b"/>
              <a:pathLst>
                <a:path w="11216640" h="914400">
                  <a:moveTo>
                    <a:pt x="0" y="0"/>
                  </a:moveTo>
                  <a:lnTo>
                    <a:pt x="11216640" y="0"/>
                  </a:lnTo>
                  <a:lnTo>
                    <a:pt x="11216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9016" b="-189016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28575"/>
              <a:ext cx="11216640" cy="9429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6"/>
                </a:lnSpc>
              </a:pPr>
              <a:r>
                <a:rPr lang="en-US" sz="1600">
                  <a:solidFill>
                    <a:srgbClr val="ECDBC2"/>
                  </a:solidFill>
                  <a:latin typeface="Poppins"/>
                  <a:ea typeface="Poppins"/>
                  <a:cs typeface="Poppins"/>
                  <a:sym typeface="Poppins"/>
                </a:rPr>
                <a:t>Thermal &amp; structural — 5-day brood-temperature and condensation log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05840" y="6355080"/>
            <a:ext cx="685800" cy="685800"/>
            <a:chOff x="0" y="0"/>
            <a:chExt cx="914400" cy="9144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C8862B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1005840" y="6355080"/>
            <a:ext cx="685800" cy="685800"/>
            <a:chOff x="0" y="0"/>
            <a:chExt cx="914400" cy="9144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28575"/>
              <a:ext cx="914400" cy="9429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3E291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5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920240" y="6355080"/>
            <a:ext cx="8412480" cy="685800"/>
            <a:chOff x="0" y="0"/>
            <a:chExt cx="11216640" cy="9144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1216640" cy="914400"/>
            </a:xfrm>
            <a:custGeom>
              <a:avLst/>
              <a:gdLst/>
              <a:ahLst/>
              <a:cxnLst/>
              <a:rect l="l" t="t" r="r" b="b"/>
              <a:pathLst>
                <a:path w="11216640" h="914400">
                  <a:moveTo>
                    <a:pt x="0" y="0"/>
                  </a:moveTo>
                  <a:lnTo>
                    <a:pt x="11216640" y="0"/>
                  </a:lnTo>
                  <a:lnTo>
                    <a:pt x="11216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9016" b="-189016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28575"/>
              <a:ext cx="11216640" cy="9429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6"/>
                </a:lnSpc>
              </a:pPr>
              <a:r>
                <a:rPr lang="en-US" sz="1600">
                  <a:solidFill>
                    <a:srgbClr val="ECDBC2"/>
                  </a:solidFill>
                  <a:latin typeface="Poppins"/>
                  <a:ea typeface="Poppins"/>
                  <a:cs typeface="Poppins"/>
                  <a:sym typeface="Poppins"/>
                </a:rPr>
                <a:t>Bee behaviour — guarding, fanning and propolis-sealing observation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0789920" y="2880360"/>
            <a:ext cx="6492240" cy="4343400"/>
            <a:chOff x="0" y="0"/>
            <a:chExt cx="8656320" cy="57912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656320" cy="5791200"/>
            </a:xfrm>
            <a:custGeom>
              <a:avLst/>
              <a:gdLst/>
              <a:ahLst/>
              <a:cxnLst/>
              <a:rect l="l" t="t" r="r" b="b"/>
              <a:pathLst>
                <a:path w="8656320" h="5791200">
                  <a:moveTo>
                    <a:pt x="0" y="965200"/>
                  </a:moveTo>
                  <a:cubicBezTo>
                    <a:pt x="0" y="432181"/>
                    <a:pt x="432181" y="0"/>
                    <a:pt x="965200" y="0"/>
                  </a:cubicBezTo>
                  <a:lnTo>
                    <a:pt x="7691120" y="0"/>
                  </a:lnTo>
                  <a:cubicBezTo>
                    <a:pt x="8224139" y="0"/>
                    <a:pt x="8656320" y="432181"/>
                    <a:pt x="8656320" y="965200"/>
                  </a:cubicBezTo>
                  <a:lnTo>
                    <a:pt x="8656320" y="4826000"/>
                  </a:lnTo>
                  <a:cubicBezTo>
                    <a:pt x="8656320" y="5359019"/>
                    <a:pt x="8224139" y="5791200"/>
                    <a:pt x="7691120" y="5791200"/>
                  </a:cubicBezTo>
                  <a:lnTo>
                    <a:pt x="965200" y="5791200"/>
                  </a:lnTo>
                  <a:cubicBezTo>
                    <a:pt x="432181" y="5791200"/>
                    <a:pt x="0" y="5359019"/>
                    <a:pt x="0" y="4826000"/>
                  </a:cubicBezTo>
                  <a:close/>
                </a:path>
              </a:pathLst>
            </a:custGeom>
            <a:solidFill>
              <a:srgbClr val="5A4436"/>
            </a:solidFill>
          </p:spPr>
        </p:sp>
      </p:grpSp>
      <p:sp>
        <p:nvSpPr>
          <p:cNvPr id="48" name="TextBox 48"/>
          <p:cNvSpPr txBox="1"/>
          <p:nvPr/>
        </p:nvSpPr>
        <p:spPr>
          <a:xfrm>
            <a:off x="11155680" y="3089910"/>
            <a:ext cx="576072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1">
                <a:solidFill>
                  <a:srgbClr val="C8862B"/>
                </a:solidFill>
                <a:latin typeface="Poppins Bold"/>
                <a:ea typeface="Poppins Bold"/>
                <a:cs typeface="Poppins Bold"/>
                <a:sym typeface="Poppins Bold"/>
              </a:rPr>
              <a:t>CRITICAL SUCCESS CRITERIA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247120" y="3729990"/>
            <a:ext cx="5669280" cy="733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00">
                <a:solidFill>
                  <a:srgbClr val="ECDBC2"/>
                </a:solidFill>
                <a:latin typeface="Poppins"/>
                <a:ea typeface="Poppins"/>
                <a:cs typeface="Poppins"/>
                <a:sym typeface="Poppins"/>
              </a:rPr>
              <a:t>•  Zero hive openings during inspection &amp; feeding</a:t>
            </a:r>
          </a:p>
          <a:p>
            <a:pPr algn="l">
              <a:lnSpc>
                <a:spcPts val="1889"/>
              </a:lnSpc>
            </a:pPr>
            <a:r>
              <a:rPr lang="en-US" sz="1500">
                <a:solidFill>
                  <a:srgbClr val="ECDBC2"/>
                </a:solidFill>
                <a:latin typeface="Poppins"/>
                <a:ea typeface="Poppins"/>
                <a:cs typeface="Poppins"/>
                <a:sym typeface="Poppins"/>
              </a:rPr>
              <a:t>•  Brood temperature held at 33–36°C for 5 days</a:t>
            </a:r>
            <a:r>
              <a:rPr sz="1100" b="1" baseline="30000">
                <a:solidFill>
                  <a:srgbClr val="C8862B"/>
                </a:solidFill>
                <a:latin typeface="Poppins"/>
              </a:rPr>
              <a:t> [1]</a:t>
            </a:r>
          </a:p>
          <a:p>
            <a:pPr algn="l">
              <a:lnSpc>
                <a:spcPts val="1889"/>
              </a:lnSpc>
            </a:pPr>
            <a:r>
              <a:rPr lang="en-US" sz="1500">
                <a:solidFill>
                  <a:srgbClr val="ECDBC2"/>
                </a:solidFill>
                <a:latin typeface="Poppins"/>
                <a:ea typeface="Poppins"/>
                <a:cs typeface="Poppins"/>
                <a:sym typeface="Poppins"/>
              </a:rPr>
              <a:t>•  Zero bee drowning in the feeder trough</a:t>
            </a:r>
          </a:p>
          <a:p>
            <a:pPr algn="l">
              <a:lnSpc>
                <a:spcPts val="1889"/>
              </a:lnSpc>
            </a:pPr>
            <a:r>
              <a:rPr lang="en-US" sz="1500">
                <a:solidFill>
                  <a:srgbClr val="ECDBC2"/>
                </a:solidFill>
                <a:latin typeface="Poppins"/>
                <a:ea typeface="Poppins"/>
                <a:cs typeface="Poppins"/>
                <a:sym typeface="Poppins"/>
              </a:rPr>
              <a:t>•  Installation under 45 minutes with hand tools</a:t>
            </a:r>
          </a:p>
          <a:p>
            <a:pPr algn="l">
              <a:lnSpc>
                <a:spcPts val="1889"/>
              </a:lnSpc>
            </a:pPr>
            <a:r>
              <a:rPr lang="en-US" sz="1500">
                <a:solidFill>
                  <a:srgbClr val="ECDBC2"/>
                </a:solidFill>
                <a:latin typeface="Poppins"/>
                <a:ea typeface="Poppins"/>
                <a:cs typeface="Poppins"/>
                <a:sym typeface="Poppins"/>
              </a:rPr>
              <a:t>•  Beekeeper satisfaction ≥ 4 / 5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05840" y="7770495"/>
            <a:ext cx="16276320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4"/>
              </a:lnSpc>
            </a:pPr>
            <a:r>
              <a:rPr lang="en-US" sz="1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Participants: 3+ beekeepers across 2 test sites — partnering with the Karnataka Beekeepers’ Co-operative, Bengaluru.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C4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01374" y="1152994"/>
            <a:ext cx="12564931" cy="1163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85"/>
              </a:lnSpc>
            </a:pPr>
            <a:r>
              <a:rPr lang="en-US" sz="10096" dirty="0">
                <a:solidFill>
                  <a:srgbClr val="3E291F"/>
                </a:solidFill>
                <a:latin typeface="Open Sauce"/>
                <a:ea typeface="Open Sauce"/>
                <a:cs typeface="Open Sauce"/>
                <a:sym typeface="Open Sauce"/>
              </a:rPr>
              <a:t>Anticipated Impact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907446" y="1057744"/>
            <a:ext cx="1000998" cy="681766"/>
            <a:chOff x="0" y="0"/>
            <a:chExt cx="596693" cy="406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96693" cy="406400"/>
            </a:xfrm>
            <a:custGeom>
              <a:avLst/>
              <a:gdLst/>
              <a:ahLst/>
              <a:cxnLst/>
              <a:rect l="l" t="t" r="r" b="b"/>
              <a:pathLst>
                <a:path w="596693" h="406400">
                  <a:moveTo>
                    <a:pt x="393493" y="0"/>
                  </a:moveTo>
                  <a:cubicBezTo>
                    <a:pt x="505718" y="0"/>
                    <a:pt x="596693" y="90976"/>
                    <a:pt x="596693" y="203200"/>
                  </a:cubicBezTo>
                  <a:cubicBezTo>
                    <a:pt x="596693" y="315424"/>
                    <a:pt x="505718" y="406400"/>
                    <a:pt x="39349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38100" cap="sq">
              <a:solidFill>
                <a:srgbClr val="3E291F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28575"/>
              <a:ext cx="596693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41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7148224" y="1205981"/>
            <a:ext cx="578301" cy="385293"/>
          </a:xfrm>
          <a:custGeom>
            <a:avLst/>
            <a:gdLst/>
            <a:ahLst/>
            <a:cxnLst/>
            <a:rect l="l" t="t" r="r" b="b"/>
            <a:pathLst>
              <a:path w="578301" h="385293">
                <a:moveTo>
                  <a:pt x="0" y="0"/>
                </a:moveTo>
                <a:lnTo>
                  <a:pt x="578301" y="0"/>
                </a:lnTo>
                <a:lnTo>
                  <a:pt x="578301" y="385293"/>
                </a:lnTo>
                <a:lnTo>
                  <a:pt x="0" y="3852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704876" y="1971487"/>
            <a:ext cx="3875908" cy="3947684"/>
          </a:xfrm>
          <a:custGeom>
            <a:avLst/>
            <a:gdLst/>
            <a:ahLst/>
            <a:cxnLst/>
            <a:rect l="l" t="t" r="r" b="b"/>
            <a:pathLst>
              <a:path w="3875908" h="3947684">
                <a:moveTo>
                  <a:pt x="0" y="0"/>
                </a:moveTo>
                <a:lnTo>
                  <a:pt x="3875908" y="0"/>
                </a:lnTo>
                <a:lnTo>
                  <a:pt x="3875908" y="3947683"/>
                </a:lnTo>
                <a:lnTo>
                  <a:pt x="0" y="39476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705978" y="2535177"/>
            <a:ext cx="3445251" cy="477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8"/>
              </a:lnSpc>
              <a:spcBef>
                <a:spcPct val="0"/>
              </a:spcBef>
            </a:pPr>
            <a:r>
              <a:rPr lang="en-US" sz="270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Operational Efficiency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5244" y="3164569"/>
            <a:ext cx="3008106" cy="2140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2"/>
              </a:lnSpc>
              <a:spcBef>
                <a:spcPct val="0"/>
              </a:spcBef>
            </a:pPr>
            <a:r>
              <a:rPr lang="en-US" sz="20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97.5% Reduction in Inspection Time Turns a traditional 20-minute, high-prep inspection into a seamless 30-second visual check</a:t>
            </a:r>
          </a:p>
        </p:txBody>
      </p:sp>
      <p:sp>
        <p:nvSpPr>
          <p:cNvPr id="10" name="Freeform 10"/>
          <p:cNvSpPr/>
          <p:nvPr/>
        </p:nvSpPr>
        <p:spPr>
          <a:xfrm>
            <a:off x="7363354" y="2465290"/>
            <a:ext cx="3875908" cy="3947684"/>
          </a:xfrm>
          <a:custGeom>
            <a:avLst/>
            <a:gdLst/>
            <a:ahLst/>
            <a:cxnLst/>
            <a:rect l="l" t="t" r="r" b="b"/>
            <a:pathLst>
              <a:path w="3875908" h="3947684">
                <a:moveTo>
                  <a:pt x="0" y="0"/>
                </a:moveTo>
                <a:lnTo>
                  <a:pt x="3875908" y="0"/>
                </a:lnTo>
                <a:lnTo>
                  <a:pt x="3875908" y="3947684"/>
                </a:lnTo>
                <a:lnTo>
                  <a:pt x="0" y="3947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7364456" y="3028980"/>
            <a:ext cx="3445251" cy="477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8"/>
              </a:lnSpc>
              <a:spcBef>
                <a:spcPct val="0"/>
              </a:spcBef>
            </a:pPr>
            <a:r>
              <a:rPr lang="en-US" sz="270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Safety &amp; Usability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93722" y="3658373"/>
            <a:ext cx="3008106" cy="2140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2"/>
              </a:lnSpc>
              <a:spcBef>
                <a:spcPct val="0"/>
              </a:spcBef>
            </a:pPr>
            <a:r>
              <a:rPr lang="en-US" sz="20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100% Elimination of Routine Gear Completely eliminates the need to wear heavy, hot protective suits or use smoke for standard visual checks and feeding.</a:t>
            </a:r>
          </a:p>
        </p:txBody>
      </p:sp>
      <p:sp>
        <p:nvSpPr>
          <p:cNvPr id="13" name="Freeform 13"/>
          <p:cNvSpPr/>
          <p:nvPr/>
        </p:nvSpPr>
        <p:spPr>
          <a:xfrm>
            <a:off x="14068864" y="3825011"/>
            <a:ext cx="3875908" cy="3947684"/>
          </a:xfrm>
          <a:custGeom>
            <a:avLst/>
            <a:gdLst/>
            <a:ahLst/>
            <a:cxnLst/>
            <a:rect l="l" t="t" r="r" b="b"/>
            <a:pathLst>
              <a:path w="3875908" h="3947684">
                <a:moveTo>
                  <a:pt x="0" y="0"/>
                </a:moveTo>
                <a:lnTo>
                  <a:pt x="3875908" y="0"/>
                </a:lnTo>
                <a:lnTo>
                  <a:pt x="3875908" y="3947684"/>
                </a:lnTo>
                <a:lnTo>
                  <a:pt x="0" y="3947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14069966" y="4388701"/>
            <a:ext cx="3445251" cy="477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8"/>
              </a:lnSpc>
              <a:spcBef>
                <a:spcPct val="0"/>
              </a:spcBef>
            </a:pPr>
            <a:r>
              <a:rPr lang="en-US" sz="270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Risk Mitigation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299232" y="5018093"/>
            <a:ext cx="3008106" cy="2140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2"/>
              </a:lnSpc>
              <a:spcBef>
                <a:spcPct val="0"/>
              </a:spcBef>
            </a:pPr>
            <a:r>
              <a:rPr lang="en-US" sz="20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₹2,000 Asset Protection External feeding prevents dry-season starvation, directly saving the farmer the ₹1,500 – ₹2,000 cost of replacing a dead bee colony.</a:t>
            </a:r>
          </a:p>
        </p:txBody>
      </p:sp>
      <p:sp>
        <p:nvSpPr>
          <p:cNvPr id="16" name="Freeform 16"/>
          <p:cNvSpPr/>
          <p:nvPr/>
        </p:nvSpPr>
        <p:spPr>
          <a:xfrm>
            <a:off x="3487446" y="5505074"/>
            <a:ext cx="3875908" cy="3947684"/>
          </a:xfrm>
          <a:custGeom>
            <a:avLst/>
            <a:gdLst/>
            <a:ahLst/>
            <a:cxnLst/>
            <a:rect l="l" t="t" r="r" b="b"/>
            <a:pathLst>
              <a:path w="3875908" h="3947684">
                <a:moveTo>
                  <a:pt x="0" y="0"/>
                </a:moveTo>
                <a:lnTo>
                  <a:pt x="3875908" y="0"/>
                </a:lnTo>
                <a:lnTo>
                  <a:pt x="3875908" y="3947684"/>
                </a:lnTo>
                <a:lnTo>
                  <a:pt x="0" y="3947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3488548" y="6068764"/>
            <a:ext cx="3445251" cy="477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8"/>
              </a:lnSpc>
              <a:spcBef>
                <a:spcPct val="0"/>
              </a:spcBef>
            </a:pPr>
            <a:r>
              <a:rPr lang="en-US" sz="270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Economic Accessibility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717814" y="6698157"/>
            <a:ext cx="3008106" cy="2497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2"/>
              </a:lnSpc>
              <a:spcBef>
                <a:spcPct val="0"/>
              </a:spcBef>
            </a:pPr>
            <a:r>
              <a:rPr lang="en-US" sz="20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80% Cost Savings vs. Redesign The modular upgrade costs &lt; ₹500, which is an 80% saving compared to forcing farmers to buy a completely new ₹2,500 wooden box.</a:t>
            </a:r>
          </a:p>
        </p:txBody>
      </p:sp>
      <p:sp>
        <p:nvSpPr>
          <p:cNvPr id="19" name="Freeform 19"/>
          <p:cNvSpPr/>
          <p:nvPr/>
        </p:nvSpPr>
        <p:spPr>
          <a:xfrm>
            <a:off x="10237219" y="6049941"/>
            <a:ext cx="3831645" cy="3902601"/>
          </a:xfrm>
          <a:custGeom>
            <a:avLst/>
            <a:gdLst/>
            <a:ahLst/>
            <a:cxnLst/>
            <a:rect l="l" t="t" r="r" b="b"/>
            <a:pathLst>
              <a:path w="3831645" h="3902601">
                <a:moveTo>
                  <a:pt x="0" y="0"/>
                </a:moveTo>
                <a:lnTo>
                  <a:pt x="3831645" y="0"/>
                </a:lnTo>
                <a:lnTo>
                  <a:pt x="3831645" y="3902601"/>
                </a:lnTo>
                <a:lnTo>
                  <a:pt x="0" y="39026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0238309" y="6596907"/>
            <a:ext cx="3405906" cy="482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45"/>
              </a:lnSpc>
              <a:spcBef>
                <a:spcPct val="0"/>
              </a:spcBef>
            </a:pPr>
            <a:r>
              <a:rPr lang="en-US" sz="267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Biological Productivity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464956" y="7219329"/>
            <a:ext cx="2973753" cy="2126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spcBef>
                <a:spcPct val="0"/>
              </a:spcBef>
            </a:pPr>
            <a:r>
              <a:rPr lang="en-US" sz="200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~15-20% Projected Yield Increase Preserving the hive's 35°C internal micro-climate redirects bee energy from temperature regulation back into honey production.</a:t>
            </a:r>
            <a:r>
              <a:rPr sz="1100" b="1" baseline="30000">
                <a:solidFill>
                  <a:srgbClr val="C8862B"/>
                </a:solidFill>
                <a:latin typeface="Poppins"/>
              </a:rPr>
              <a:t> [1]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431997" y="431997"/>
            <a:ext cx="3015358" cy="1296000"/>
            <a:chOff x="0" y="0"/>
            <a:chExt cx="4020477" cy="1728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020439" cy="1727962"/>
            </a:xfrm>
            <a:custGeom>
              <a:avLst/>
              <a:gdLst/>
              <a:ahLst/>
              <a:cxnLst/>
              <a:rect l="l" t="t" r="r" b="b"/>
              <a:pathLst>
                <a:path w="4020439" h="1727962">
                  <a:moveTo>
                    <a:pt x="0" y="0"/>
                  </a:moveTo>
                  <a:lnTo>
                    <a:pt x="4020439" y="0"/>
                  </a:lnTo>
                  <a:lnTo>
                    <a:pt x="4020439" y="1727962"/>
                  </a:lnTo>
                  <a:lnTo>
                    <a:pt x="0" y="17279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" r="-13" b="-2"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13960331" y="428339"/>
            <a:ext cx="3948112" cy="600361"/>
            <a:chOff x="0" y="0"/>
            <a:chExt cx="5264150" cy="80048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264150" cy="800481"/>
            </a:xfrm>
            <a:custGeom>
              <a:avLst/>
              <a:gdLst/>
              <a:ahLst/>
              <a:cxnLst/>
              <a:rect l="l" t="t" r="r" b="b"/>
              <a:pathLst>
                <a:path w="5264150" h="800481">
                  <a:moveTo>
                    <a:pt x="0" y="0"/>
                  </a:moveTo>
                  <a:lnTo>
                    <a:pt x="5264150" y="0"/>
                  </a:lnTo>
                  <a:lnTo>
                    <a:pt x="5264150" y="800481"/>
                  </a:lnTo>
                  <a:lnTo>
                    <a:pt x="0" y="800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36" b="-136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DB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82980" y="2008832"/>
            <a:ext cx="1627632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1">
                <a:solidFill>
                  <a:srgbClr val="C8862B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82980" y="2391737"/>
            <a:ext cx="16276320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 b="1">
                <a:solidFill>
                  <a:srgbClr val="3E291F"/>
                </a:solidFill>
                <a:latin typeface="Poppins Bold"/>
                <a:ea typeface="Poppins Bold"/>
                <a:cs typeface="Poppins Bold"/>
                <a:sym typeface="Poppins Bold"/>
              </a:rPr>
              <a:t>From Insight to a Field-Ready Solution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01268" y="3262322"/>
            <a:ext cx="2011680" cy="82296"/>
            <a:chOff x="0" y="0"/>
            <a:chExt cx="2682240" cy="10972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82240" cy="109728"/>
            </a:xfrm>
            <a:custGeom>
              <a:avLst/>
              <a:gdLst/>
              <a:ahLst/>
              <a:cxnLst/>
              <a:rect l="l" t="t" r="r" b="b"/>
              <a:pathLst>
                <a:path w="2682240" h="109728">
                  <a:moveTo>
                    <a:pt x="0" y="0"/>
                  </a:moveTo>
                  <a:lnTo>
                    <a:pt x="2682240" y="0"/>
                  </a:lnTo>
                  <a:lnTo>
                    <a:pt x="268224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C8862B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82980" y="4191962"/>
            <a:ext cx="16276320" cy="1381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2400">
                <a:solidFill>
                  <a:srgbClr val="3E291F"/>
                </a:solidFill>
                <a:latin typeface="Poppins"/>
                <a:ea typeface="Poppins"/>
                <a:cs typeface="Poppins"/>
                <a:sym typeface="Poppins"/>
              </a:rPr>
              <a:t>A design-thinking journey from empathy to engineering: real beekeeper research distilled into one sharp problem, then a sub-₹500 retrofit that turns a risky 20-minute hive inspection into a 30-second visual check.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82980" y="6230312"/>
            <a:ext cx="16276320" cy="18288"/>
            <a:chOff x="0" y="0"/>
            <a:chExt cx="21701760" cy="2438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701761" cy="24384"/>
            </a:xfrm>
            <a:custGeom>
              <a:avLst/>
              <a:gdLst/>
              <a:ahLst/>
              <a:cxnLst/>
              <a:rect l="l" t="t" r="r" b="b"/>
              <a:pathLst>
                <a:path w="21701761" h="24384">
                  <a:moveTo>
                    <a:pt x="0" y="0"/>
                  </a:moveTo>
                  <a:lnTo>
                    <a:pt x="21701761" y="0"/>
                  </a:lnTo>
                  <a:lnTo>
                    <a:pt x="21701761" y="24384"/>
                  </a:lnTo>
                  <a:lnTo>
                    <a:pt x="0" y="24384"/>
                  </a:lnTo>
                  <a:close/>
                </a:path>
              </a:pathLst>
            </a:custGeom>
            <a:solidFill>
              <a:srgbClr val="C8862B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982980" y="6485582"/>
            <a:ext cx="1627632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1">
                <a:solidFill>
                  <a:srgbClr val="C8862B"/>
                </a:solidFill>
                <a:latin typeface="Poppins Bold"/>
                <a:ea typeface="Poppins Bold"/>
                <a:cs typeface="Poppins Bold"/>
                <a:sym typeface="Poppins Bold"/>
              </a:rPr>
              <a:t>NEXT STEPS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2980" y="7106612"/>
            <a:ext cx="7955280" cy="829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000">
                <a:solidFill>
                  <a:srgbClr val="3E291F"/>
                </a:solidFill>
                <a:latin typeface="Poppins"/>
                <a:ea typeface="Poppins"/>
                <a:cs typeface="Poppins"/>
                <a:sym typeface="Poppins"/>
              </a:rPr>
              <a:t>•  Build the v0.2 / v0.3 physical prototype for field trials</a:t>
            </a:r>
          </a:p>
          <a:p>
            <a:pPr algn="l">
              <a:lnSpc>
                <a:spcPts val="2520"/>
              </a:lnSpc>
            </a:pPr>
            <a:r>
              <a:rPr lang="en-US" sz="2000">
                <a:solidFill>
                  <a:srgbClr val="3E291F"/>
                </a:solidFill>
                <a:latin typeface="Poppins"/>
                <a:ea typeface="Poppins"/>
                <a:cs typeface="Poppins"/>
                <a:sym typeface="Poppins"/>
              </a:rPr>
              <a:t>•  Run the 5-session usability test with rural beekeepers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212580" y="7106612"/>
            <a:ext cx="8046720" cy="115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000">
                <a:solidFill>
                  <a:srgbClr val="3E291F"/>
                </a:solidFill>
                <a:latin typeface="Poppins"/>
                <a:ea typeface="Poppins"/>
                <a:cs typeface="Poppins"/>
                <a:sym typeface="Poppins"/>
              </a:rPr>
              <a:t>•  Iterate on UV-tint clarity, shutter humidity &amp; propolis sealing</a:t>
            </a:r>
          </a:p>
          <a:p>
            <a:pPr algn="l">
              <a:lnSpc>
                <a:spcPts val="2520"/>
              </a:lnSpc>
            </a:pPr>
            <a:r>
              <a:rPr lang="en-US" sz="2000">
                <a:solidFill>
                  <a:srgbClr val="3E291F"/>
                </a:solidFill>
                <a:latin typeface="Poppins"/>
                <a:ea typeface="Poppins"/>
                <a:cs typeface="Poppins"/>
                <a:sym typeface="Poppins"/>
              </a:rPr>
              <a:t>•  Explore low-cost distribution through beekeeping co-operatives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431997" y="431997"/>
            <a:ext cx="3015329" cy="1295972"/>
            <a:chOff x="0" y="0"/>
            <a:chExt cx="4020439" cy="172796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020439" cy="1727962"/>
            </a:xfrm>
            <a:custGeom>
              <a:avLst/>
              <a:gdLst/>
              <a:ahLst/>
              <a:cxnLst/>
              <a:rect l="l" t="t" r="r" b="b"/>
              <a:pathLst>
                <a:path w="4020439" h="1727962">
                  <a:moveTo>
                    <a:pt x="0" y="0"/>
                  </a:moveTo>
                  <a:lnTo>
                    <a:pt x="4020439" y="0"/>
                  </a:lnTo>
                  <a:lnTo>
                    <a:pt x="4020439" y="1727962"/>
                  </a:lnTo>
                  <a:lnTo>
                    <a:pt x="0" y="17279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1" r="-61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3967203" y="830351"/>
            <a:ext cx="3948112" cy="600361"/>
            <a:chOff x="0" y="0"/>
            <a:chExt cx="5264150" cy="80048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264150" cy="800481"/>
            </a:xfrm>
            <a:custGeom>
              <a:avLst/>
              <a:gdLst/>
              <a:ahLst/>
              <a:cxnLst/>
              <a:rect l="l" t="t" r="r" b="b"/>
              <a:pathLst>
                <a:path w="5264150" h="800481">
                  <a:moveTo>
                    <a:pt x="0" y="0"/>
                  </a:moveTo>
                  <a:lnTo>
                    <a:pt x="5264150" y="0"/>
                  </a:lnTo>
                  <a:lnTo>
                    <a:pt x="5264150" y="800481"/>
                  </a:lnTo>
                  <a:lnTo>
                    <a:pt x="0" y="800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36" b="-136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DB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640080"/>
            <a:ext cx="1627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8862B"/>
                </a:solidFill>
                <a:latin typeface="Poppins"/>
              </a:rP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051560"/>
            <a:ext cx="1627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3E291F"/>
                </a:solidFill>
                <a:latin typeface="Poppins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4128" y="1874519"/>
            <a:ext cx="2011680" cy="82296"/>
          </a:xfrm>
          <a:prstGeom prst="rect">
            <a:avLst/>
          </a:prstGeom>
          <a:solidFill>
            <a:srgbClr val="C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468880"/>
            <a:ext cx="7955279" cy="3150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600" b="1" dirty="0">
                <a:solidFill>
                  <a:srgbClr val="C8862B"/>
                </a:solidFill>
                <a:latin typeface="Poppins"/>
              </a:rPr>
              <a:t>1.  </a:t>
            </a:r>
            <a:r>
              <a:rPr sz="1600" dirty="0">
                <a:solidFill>
                  <a:srgbClr val="3E291F"/>
                </a:solidFill>
                <a:latin typeface="Poppins"/>
              </a:rPr>
              <a:t>Bureau of Indian Standards. IS 1515:1998 — Bee Hive (Newton / ISI type): Specification. BIS, New Delhi. (hive dimensions &amp; 9 mm bee-space)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600" b="1" dirty="0">
                <a:solidFill>
                  <a:srgbClr val="C8862B"/>
                </a:solidFill>
                <a:latin typeface="Poppins"/>
              </a:rPr>
              <a:t>2.  </a:t>
            </a:r>
            <a:r>
              <a:rPr sz="1600" dirty="0">
                <a:solidFill>
                  <a:srgbClr val="3E291F"/>
                </a:solidFill>
                <a:latin typeface="Poppins"/>
              </a:rPr>
              <a:t>Monga, K. &amp; Manocha, A. (2011). Adoption and constraints of beekeeping in District Panchkula (Haryana), India. Livestock Research for Rural Development, 23(5).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600" b="1" dirty="0">
                <a:solidFill>
                  <a:srgbClr val="C8862B"/>
                </a:solidFill>
                <a:latin typeface="Poppins"/>
              </a:rPr>
              <a:t>3.  </a:t>
            </a:r>
            <a:r>
              <a:rPr sz="1600" dirty="0">
                <a:solidFill>
                  <a:srgbClr val="3E291F"/>
                </a:solidFill>
                <a:latin typeface="Poppins"/>
              </a:rPr>
              <a:t>Gadekar, U. B. (2026). Problems of Bee Farming in Rural Maharashtra: A Case Study of </a:t>
            </a:r>
            <a:r>
              <a:rPr sz="1600" dirty="0" err="1">
                <a:solidFill>
                  <a:srgbClr val="3E291F"/>
                </a:solidFill>
                <a:latin typeface="Poppins"/>
              </a:rPr>
              <a:t>Patgaon</a:t>
            </a:r>
            <a:r>
              <a:rPr sz="1600" dirty="0">
                <a:solidFill>
                  <a:srgbClr val="3E291F"/>
                </a:solidFill>
                <a:latin typeface="Poppins"/>
              </a:rPr>
              <a:t> Village. Int. J. of Engineering and Management Research, 16(1), 38–45.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600" b="1" dirty="0">
                <a:solidFill>
                  <a:srgbClr val="C8862B"/>
                </a:solidFill>
                <a:latin typeface="Poppins"/>
              </a:rPr>
              <a:t>4.  </a:t>
            </a:r>
            <a:r>
              <a:rPr sz="1600" dirty="0">
                <a:solidFill>
                  <a:srgbClr val="3E291F"/>
                </a:solidFill>
                <a:latin typeface="Poppins"/>
              </a:rPr>
              <a:t>Flow Hive. Wikipedia — mechanism &amp; caveats of one-tap flow harvesting. en.wikipedia.org/wiki/</a:t>
            </a:r>
            <a:r>
              <a:rPr sz="1600" dirty="0" err="1">
                <a:solidFill>
                  <a:srgbClr val="3E291F"/>
                </a:solidFill>
                <a:latin typeface="Poppins"/>
              </a:rPr>
              <a:t>Flow_Hive</a:t>
            </a:r>
            <a:endParaRPr sz="1600" dirty="0">
              <a:solidFill>
                <a:srgbClr val="3E291F"/>
              </a:solidFill>
              <a:latin typeface="Poppi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235440" y="2468880"/>
            <a:ext cx="8046720" cy="20865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600" b="1" dirty="0">
                <a:solidFill>
                  <a:srgbClr val="C8862B"/>
                </a:solidFill>
                <a:latin typeface="Poppins"/>
              </a:rPr>
              <a:t>5.  </a:t>
            </a:r>
            <a:r>
              <a:rPr sz="1600" dirty="0" err="1">
                <a:solidFill>
                  <a:srgbClr val="3E291F"/>
                </a:solidFill>
                <a:latin typeface="Poppins"/>
              </a:rPr>
              <a:t>Agriallis</a:t>
            </a:r>
            <a:r>
              <a:rPr sz="1600" dirty="0">
                <a:solidFill>
                  <a:srgbClr val="3E291F"/>
                </a:solidFill>
                <a:latin typeface="Poppins"/>
              </a:rPr>
              <a:t> (2025). Flow Hive – A Novel Technology for Beekeeping. agriallis.com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600" b="1" dirty="0">
                <a:solidFill>
                  <a:srgbClr val="C8862B"/>
                </a:solidFill>
                <a:latin typeface="Poppins"/>
              </a:rPr>
              <a:t>6.  </a:t>
            </a:r>
            <a:r>
              <a:rPr sz="1600" dirty="0">
                <a:solidFill>
                  <a:srgbClr val="3E291F"/>
                </a:solidFill>
                <a:latin typeface="Poppins"/>
              </a:rPr>
              <a:t>MANAGE. Promoting Scientific Beekeeping for Livelihood Security. National Institute of Agricultural Extension Management. manage.gov.in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600" b="1" dirty="0">
                <a:solidFill>
                  <a:srgbClr val="C8862B"/>
                </a:solidFill>
                <a:latin typeface="Poppins"/>
              </a:rPr>
              <a:t>7.  </a:t>
            </a:r>
            <a:r>
              <a:rPr sz="1600" dirty="0">
                <a:solidFill>
                  <a:srgbClr val="3E291F"/>
                </a:solidFill>
                <a:latin typeface="Poppins"/>
              </a:rPr>
              <a:t>KVK Delhi. Scientific Bee-Keeping Report. kvkdelhi.org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600" b="1" dirty="0">
                <a:solidFill>
                  <a:srgbClr val="C8862B"/>
                </a:solidFill>
                <a:latin typeface="Poppins"/>
              </a:rPr>
              <a:t>8.  </a:t>
            </a:r>
            <a:r>
              <a:rPr sz="1600" dirty="0" err="1">
                <a:solidFill>
                  <a:srgbClr val="3E291F"/>
                </a:solidFill>
                <a:latin typeface="Poppins"/>
              </a:rPr>
              <a:t>Agriculture.Institute</a:t>
            </a:r>
            <a:r>
              <a:rPr sz="1600" dirty="0">
                <a:solidFill>
                  <a:srgbClr val="3E291F"/>
                </a:solidFill>
                <a:latin typeface="Poppins"/>
              </a:rPr>
              <a:t> (2025). Current Beekeeping Trends in India: Challenges &amp; Opportunities.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7360920"/>
            <a:ext cx="16276320" cy="2331720"/>
          </a:xfrm>
          <a:prstGeom prst="rect">
            <a:avLst/>
          </a:prstGeom>
          <a:solidFill>
            <a:srgbClr val="3E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7543800"/>
            <a:ext cx="1554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dirty="0">
                <a:solidFill>
                  <a:srgbClr val="C8862B"/>
                </a:solidFill>
                <a:latin typeface="Poppins"/>
              </a:rPr>
              <a:t>PRIMARY RESEARCH — WHO / WHICH 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7909560"/>
            <a:ext cx="15544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dirty="0">
                <a:solidFill>
                  <a:srgbClr val="ECDBC2"/>
                </a:solidFill>
                <a:latin typeface="Poppins"/>
              </a:rPr>
              <a:t>Interviews — Manjunath Hegde, Sushanth Hegde, Harsha Hegde, Ullas Naik, Akshay </a:t>
            </a:r>
            <a:r>
              <a:rPr sz="1400" b="0" dirty="0" err="1">
                <a:solidFill>
                  <a:srgbClr val="ECDBC2"/>
                </a:solidFill>
                <a:latin typeface="Poppins"/>
              </a:rPr>
              <a:t>Kedla</a:t>
            </a:r>
            <a:r>
              <a:rPr sz="1400" b="0" dirty="0">
                <a:solidFill>
                  <a:srgbClr val="ECDBC2"/>
                </a:solidFill>
                <a:latin typeface="Poppins"/>
              </a:rPr>
              <a:t> (beekeepers) &amp; Dhruv Bhat (bee researcher).  ·  Surveys — Beekeeper &amp; Consumer Google Forms.  ·  Field observation &amp; bee-training camp.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8915400"/>
            <a:ext cx="15544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C9B79C"/>
                </a:solidFill>
                <a:latin typeface="Poppins"/>
              </a:rPr>
              <a:t>In-text markers: numbered [n] cite the references above · named tags such as [Harsha, Sushanth] are the interviewees quoted · [Beekeeper survey] / [Consumer survey] are our Google Forms. Prototype visuals are the team’s procedural Three.js renders.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4" b="-14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0" y="-107871"/>
            <a:ext cx="18288000" cy="10591905"/>
          </a:xfrm>
          <a:custGeom>
            <a:avLst/>
            <a:gdLst/>
            <a:ahLst/>
            <a:cxnLst/>
            <a:rect l="l" t="t" r="r" b="b"/>
            <a:pathLst>
              <a:path w="18288000" h="10591905">
                <a:moveTo>
                  <a:pt x="0" y="0"/>
                </a:moveTo>
                <a:lnTo>
                  <a:pt x="18288000" y="0"/>
                </a:lnTo>
                <a:lnTo>
                  <a:pt x="18288000" y="10591905"/>
                </a:lnTo>
                <a:lnTo>
                  <a:pt x="0" y="105919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5" name="Group 5"/>
          <p:cNvGrpSpPr/>
          <p:nvPr/>
        </p:nvGrpSpPr>
        <p:grpSpPr>
          <a:xfrm>
            <a:off x="431997" y="431997"/>
            <a:ext cx="3015329" cy="1295972"/>
            <a:chOff x="0" y="0"/>
            <a:chExt cx="4020439" cy="172796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20439" cy="1727962"/>
            </a:xfrm>
            <a:custGeom>
              <a:avLst/>
              <a:gdLst/>
              <a:ahLst/>
              <a:cxnLst/>
              <a:rect l="l" t="t" r="r" b="b"/>
              <a:pathLst>
                <a:path w="4020439" h="1727962">
                  <a:moveTo>
                    <a:pt x="0" y="0"/>
                  </a:moveTo>
                  <a:lnTo>
                    <a:pt x="4020439" y="0"/>
                  </a:lnTo>
                  <a:lnTo>
                    <a:pt x="4020439" y="1727962"/>
                  </a:lnTo>
                  <a:lnTo>
                    <a:pt x="0" y="17279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61" r="-61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8341366" y="431997"/>
            <a:ext cx="8917934" cy="9464402"/>
            <a:chOff x="0" y="0"/>
            <a:chExt cx="11890578" cy="1261920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890502" cy="12619101"/>
            </a:xfrm>
            <a:custGeom>
              <a:avLst/>
              <a:gdLst/>
              <a:ahLst/>
              <a:cxnLst/>
              <a:rect l="l" t="t" r="r" b="b"/>
              <a:pathLst>
                <a:path w="11890502" h="12619101">
                  <a:moveTo>
                    <a:pt x="519938" y="0"/>
                  </a:moveTo>
                  <a:lnTo>
                    <a:pt x="11370564" y="0"/>
                  </a:lnTo>
                  <a:cubicBezTo>
                    <a:pt x="11508486" y="0"/>
                    <a:pt x="11640693" y="54737"/>
                    <a:pt x="11738229" y="152273"/>
                  </a:cubicBezTo>
                  <a:cubicBezTo>
                    <a:pt x="11835765" y="249809"/>
                    <a:pt x="11890502" y="382016"/>
                    <a:pt x="11890502" y="519938"/>
                  </a:cubicBezTo>
                  <a:lnTo>
                    <a:pt x="11890502" y="12099163"/>
                  </a:lnTo>
                  <a:cubicBezTo>
                    <a:pt x="11890502" y="12386310"/>
                    <a:pt x="11657711" y="12619101"/>
                    <a:pt x="11370564" y="12619101"/>
                  </a:cubicBezTo>
                  <a:lnTo>
                    <a:pt x="519938" y="12619101"/>
                  </a:lnTo>
                  <a:cubicBezTo>
                    <a:pt x="232791" y="12619228"/>
                    <a:pt x="0" y="12386437"/>
                    <a:pt x="0" y="12099163"/>
                  </a:cubicBezTo>
                  <a:lnTo>
                    <a:pt x="0" y="519938"/>
                  </a:lnTo>
                  <a:cubicBezTo>
                    <a:pt x="0" y="232791"/>
                    <a:pt x="232791" y="0"/>
                    <a:pt x="519938" y="0"/>
                  </a:cubicBezTo>
                  <a:close/>
                </a:path>
              </a:pathLst>
            </a:custGeom>
            <a:blipFill>
              <a:blip r:embed="rId6"/>
              <a:stretch>
                <a:fillRect l="-3063" r="-3064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3967203" y="830351"/>
            <a:ext cx="3948112" cy="600361"/>
            <a:chOff x="0" y="0"/>
            <a:chExt cx="5264150" cy="80048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264150" cy="800481"/>
            </a:xfrm>
            <a:custGeom>
              <a:avLst/>
              <a:gdLst/>
              <a:ahLst/>
              <a:cxnLst/>
              <a:rect l="l" t="t" r="r" b="b"/>
              <a:pathLst>
                <a:path w="5264150" h="800481">
                  <a:moveTo>
                    <a:pt x="0" y="0"/>
                  </a:moveTo>
                  <a:lnTo>
                    <a:pt x="5264150" y="0"/>
                  </a:lnTo>
                  <a:lnTo>
                    <a:pt x="5264150" y="800481"/>
                  </a:lnTo>
                  <a:lnTo>
                    <a:pt x="0" y="800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36" b="-136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2102167" y="5290595"/>
            <a:ext cx="7570680" cy="878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7"/>
              </a:lnSpc>
            </a:pPr>
            <a:r>
              <a:rPr lang="en-US" sz="7409" b="1">
                <a:solidFill>
                  <a:srgbClr val="15577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1329</Words>
  <Application>Microsoft Office PowerPoint</Application>
  <PresentationFormat>Custom</PresentationFormat>
  <Paragraphs>161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8" baseType="lpstr">
      <vt:lpstr>Arial</vt:lpstr>
      <vt:lpstr>Open Sauce Bold</vt:lpstr>
      <vt:lpstr>Times New Roman</vt:lpstr>
      <vt:lpstr>Now</vt:lpstr>
      <vt:lpstr>Times New Roman Bold</vt:lpstr>
      <vt:lpstr>Calibri (MS) Bold</vt:lpstr>
      <vt:lpstr>Poppins Bold</vt:lpstr>
      <vt:lpstr>Bricolage Grotesque Bold</vt:lpstr>
      <vt:lpstr>Bugaki</vt:lpstr>
      <vt:lpstr>Calibri</vt:lpstr>
      <vt:lpstr>Open Sauce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DTL_Final_Presentation.pptx</dc:title>
  <cp:lastModifiedBy>Pavan Naik</cp:lastModifiedBy>
  <cp:revision>4</cp:revision>
  <dcterms:created xsi:type="dcterms:W3CDTF">2006-08-16T00:00:00Z</dcterms:created>
  <dcterms:modified xsi:type="dcterms:W3CDTF">2026-07-14T08:13:31Z</dcterms:modified>
  <dc:identifier>DAHPSE16_64</dc:identifier>
</cp:coreProperties>
</file>