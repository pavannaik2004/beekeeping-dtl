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59" r:id="rId5"/>
    <p:sldId id="274" r:id="rId6"/>
    <p:sldId id="275" r:id="rId7"/>
    <p:sldId id="263" r:id="rId8"/>
    <p:sldId id="265" r:id="rId9"/>
    <p:sldId id="276" r:id="rId10"/>
    <p:sldId id="277" r:id="rId11"/>
    <p:sldId id="278" r:id="rId12"/>
    <p:sldId id="270" r:id="rId13"/>
    <p:sldId id="279" r:id="rId14"/>
    <p:sldId id="272" r:id="rId15"/>
  </p:sldIdLst>
  <p:sldSz cx="18288000" cy="10287000"/>
  <p:notesSz cx="6858000" cy="9144000"/>
  <p:embeddedFontLst>
    <p:embeddedFont>
      <p:font typeface="Bricolage Grotesque Bold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Open Sauce" panose="020B0604020202020204" charset="0"/>
      <p:regular r:id="rId19"/>
    </p:embeddedFont>
    <p:embeddedFont>
      <p:font typeface="Open Sauce Heavy" panose="020B0604020202020204" charset="0"/>
      <p:regular r:id="rId20"/>
    </p:embeddedFont>
    <p:embeddedFont>
      <p:font typeface="Poppins" panose="00000500000000000000" pitchFamily="2" charset="0"/>
      <p:regular r:id="rId21"/>
      <p:bold r:id="rId22"/>
    </p:embeddedFont>
    <p:embeddedFont>
      <p:font typeface="Poppins Bold" panose="00000800000000000000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3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926428" y="9460106"/>
            <a:ext cx="4435145" cy="674503"/>
            <a:chOff x="0" y="0"/>
            <a:chExt cx="5913526" cy="899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13501" cy="899287"/>
            </a:xfrm>
            <a:custGeom>
              <a:avLst/>
              <a:gdLst/>
              <a:ahLst/>
              <a:cxnLst/>
              <a:rect l="l" t="t" r="r" b="b"/>
              <a:pathLst>
                <a:path w="5913501" h="899287">
                  <a:moveTo>
                    <a:pt x="0" y="0"/>
                  </a:moveTo>
                  <a:lnTo>
                    <a:pt x="5913501" y="0"/>
                  </a:lnTo>
                  <a:lnTo>
                    <a:pt x="5913501" y="899287"/>
                  </a:lnTo>
                  <a:lnTo>
                    <a:pt x="0" y="8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" b="-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930403" y="1621107"/>
            <a:ext cx="13652497" cy="77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Master of Computer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2444" y="2583771"/>
            <a:ext cx="13220700" cy="65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058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Thinking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76631" y="3703906"/>
            <a:ext cx="7534513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>
                <a:solidFill>
                  <a:srgbClr val="0058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Beekeeping and Hive Box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8625" y="4796914"/>
            <a:ext cx="9970751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Pavan Mohan Naik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Sumanth Bhaskar Hegde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Pramath Prakash Hegde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7775" y="6816557"/>
            <a:ext cx="15792450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Mohan Aradhya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algn="ctr">
              <a:lnSpc>
                <a:spcPts val="3840"/>
              </a:lnSpc>
            </a:pPr>
            <a:endParaRPr lang="en-US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05897"/>
            <a:ext cx="3930275" cy="3782924"/>
            <a:chOff x="30480" y="591820"/>
            <a:chExt cx="12736830" cy="12259310"/>
          </a:xfrm>
        </p:grpSpPr>
        <p:sp>
          <p:nvSpPr>
            <p:cNvPr id="3" name="Freeform 3"/>
            <p:cNvSpPr/>
            <p:nvPr/>
          </p:nvSpPr>
          <p:spPr>
            <a:xfrm>
              <a:off x="64261" y="240734"/>
              <a:ext cx="12517576" cy="11526913"/>
            </a:xfrm>
            <a:custGeom>
              <a:avLst/>
              <a:gdLst/>
              <a:ahLst/>
              <a:cxnLst/>
              <a:rect l="l" t="t" r="r" b="b"/>
              <a:pathLst>
                <a:path w="12517576" h="11526913">
                  <a:moveTo>
                    <a:pt x="11861039" y="4030276"/>
                  </a:moveTo>
                  <a:cubicBezTo>
                    <a:pt x="10754869" y="1880166"/>
                    <a:pt x="8526019" y="304096"/>
                    <a:pt x="6151119" y="56446"/>
                  </a:cubicBezTo>
                  <a:cubicBezTo>
                    <a:pt x="4213099" y="-240734"/>
                    <a:pt x="2938019" y="672396"/>
                    <a:pt x="1896619" y="1929696"/>
                  </a:cubicBezTo>
                  <a:cubicBezTo>
                    <a:pt x="855219" y="3186996"/>
                    <a:pt x="301499" y="4789736"/>
                    <a:pt x="77979" y="6406446"/>
                  </a:cubicBezTo>
                  <a:cubicBezTo>
                    <a:pt x="-40131" y="7259886"/>
                    <a:pt x="-64261" y="8165396"/>
                    <a:pt x="297689" y="8947716"/>
                  </a:cubicBezTo>
                  <a:cubicBezTo>
                    <a:pt x="756159" y="9939586"/>
                    <a:pt x="1758189" y="10570776"/>
                    <a:pt x="2777999" y="10963206"/>
                  </a:cubicBezTo>
                  <a:cubicBezTo>
                    <a:pt x="5521199" y="12018576"/>
                    <a:pt x="8889240" y="11609636"/>
                    <a:pt x="11024109" y="9587796"/>
                  </a:cubicBezTo>
                  <a:cubicBezTo>
                    <a:pt x="11692129" y="8955336"/>
                    <a:pt x="12239499" y="8162856"/>
                    <a:pt x="12435079" y="7263696"/>
                  </a:cubicBezTo>
                  <a:cubicBezTo>
                    <a:pt x="12672569" y="6172766"/>
                    <a:pt x="12371579" y="5023416"/>
                    <a:pt x="11861039" y="4030276"/>
                  </a:cubicBezTo>
                  <a:close/>
                </a:path>
              </a:pathLst>
            </a:custGeom>
            <a:blipFill>
              <a:blip r:embed="rId2"/>
              <a:stretch>
                <a:fillRect l="243" t="837" r="-243" b="-943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24956" y="1063494"/>
            <a:ext cx="3658594" cy="3667730"/>
            <a:chOff x="0" y="0"/>
            <a:chExt cx="5594350" cy="5608320"/>
          </a:xfrm>
        </p:grpSpPr>
        <p:sp>
          <p:nvSpPr>
            <p:cNvPr id="5" name="Freeform 5"/>
            <p:cNvSpPr/>
            <p:nvPr/>
          </p:nvSpPr>
          <p:spPr>
            <a:xfrm>
              <a:off x="491" y="474"/>
              <a:ext cx="5594679" cy="5608083"/>
            </a:xfrm>
            <a:custGeom>
              <a:avLst/>
              <a:gdLst/>
              <a:ahLst/>
              <a:cxnLst/>
              <a:rect l="l" t="t" r="r" b="b"/>
              <a:pathLst>
                <a:path w="5594679" h="5608083">
                  <a:moveTo>
                    <a:pt x="3495819" y="150656"/>
                  </a:moveTo>
                  <a:cubicBezTo>
                    <a:pt x="4688349" y="317026"/>
                    <a:pt x="6184409" y="779306"/>
                    <a:pt x="5355099" y="2868456"/>
                  </a:cubicBezTo>
                  <a:cubicBezTo>
                    <a:pt x="4525789" y="4957606"/>
                    <a:pt x="2808749" y="5328446"/>
                    <a:pt x="1979439" y="5557046"/>
                  </a:cubicBezTo>
                  <a:cubicBezTo>
                    <a:pt x="1150129" y="5785646"/>
                    <a:pt x="176039" y="5242086"/>
                    <a:pt x="520209" y="4011456"/>
                  </a:cubicBezTo>
                  <a:cubicBezTo>
                    <a:pt x="821199" y="2934496"/>
                    <a:pt x="-80501" y="1580676"/>
                    <a:pt x="5859" y="694216"/>
                  </a:cubicBezTo>
                  <a:cubicBezTo>
                    <a:pt x="92219" y="-192244"/>
                    <a:pt x="2064529" y="-50004"/>
                    <a:pt x="3495819" y="150656"/>
                  </a:cubicBezTo>
                  <a:close/>
                </a:path>
              </a:pathLst>
            </a:custGeom>
            <a:blipFill>
              <a:blip r:embed="rId3"/>
              <a:stretch>
                <a:fillRect l="-119" r="-11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997598" y="745969"/>
            <a:ext cx="4042852" cy="4042852"/>
            <a:chOff x="0" y="0"/>
            <a:chExt cx="12700000" cy="12700000"/>
          </a:xfrm>
        </p:grpSpPr>
        <p:sp>
          <p:nvSpPr>
            <p:cNvPr id="7" name="Freeform 7"/>
            <p:cNvSpPr/>
            <p:nvPr/>
          </p:nvSpPr>
          <p:spPr>
            <a:xfrm>
              <a:off x="125908" y="857250"/>
              <a:ext cx="12396490" cy="11506076"/>
            </a:xfrm>
            <a:custGeom>
              <a:avLst/>
              <a:gdLst/>
              <a:ahLst/>
              <a:cxnLst/>
              <a:rect l="l" t="t" r="r" b="b"/>
              <a:pathLst>
                <a:path w="12396490" h="11506076">
                  <a:moveTo>
                    <a:pt x="10015042" y="938530"/>
                  </a:moveTo>
                  <a:cubicBezTo>
                    <a:pt x="8825052" y="189230"/>
                    <a:pt x="8506282" y="154940"/>
                    <a:pt x="7108012" y="0"/>
                  </a:cubicBezTo>
                  <a:cubicBezTo>
                    <a:pt x="3902532" y="38100"/>
                    <a:pt x="1304112" y="1889760"/>
                    <a:pt x="298272" y="4933950"/>
                  </a:cubicBezTo>
                  <a:cubicBezTo>
                    <a:pt x="-45898" y="5975350"/>
                    <a:pt x="-137338" y="7139940"/>
                    <a:pt x="266522" y="8159750"/>
                  </a:cubicBezTo>
                  <a:cubicBezTo>
                    <a:pt x="797382" y="9499600"/>
                    <a:pt x="2116912" y="10407650"/>
                    <a:pt x="3511372" y="10773410"/>
                  </a:cubicBezTo>
                  <a:cubicBezTo>
                    <a:pt x="4905832" y="11140440"/>
                    <a:pt x="6441262" y="11644630"/>
                    <a:pt x="7871282" y="11470640"/>
                  </a:cubicBezTo>
                  <a:cubicBezTo>
                    <a:pt x="8986342" y="11334750"/>
                    <a:pt x="10100132" y="10519410"/>
                    <a:pt x="10934522" y="9767570"/>
                  </a:cubicBezTo>
                  <a:cubicBezTo>
                    <a:pt x="11488242" y="9268460"/>
                    <a:pt x="11833682" y="8576310"/>
                    <a:pt x="12064822" y="7867650"/>
                  </a:cubicBezTo>
                  <a:cubicBezTo>
                    <a:pt x="12872542" y="5401310"/>
                    <a:pt x="12210872" y="2322830"/>
                    <a:pt x="10015042" y="938530"/>
                  </a:cubicBezTo>
                  <a:close/>
                </a:path>
              </a:pathLst>
            </a:custGeom>
            <a:blipFill>
              <a:blip r:embed="rId4"/>
              <a:stretch>
                <a:fillRect t="-3869" b="-386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336487" y="879932"/>
            <a:ext cx="3441987" cy="3782924"/>
            <a:chOff x="487680" y="-128270"/>
            <a:chExt cx="11526520" cy="12668250"/>
          </a:xfrm>
        </p:grpSpPr>
        <p:sp>
          <p:nvSpPr>
            <p:cNvPr id="9" name="Freeform 9"/>
            <p:cNvSpPr/>
            <p:nvPr/>
          </p:nvSpPr>
          <p:spPr>
            <a:xfrm>
              <a:off x="233880" y="263370"/>
              <a:ext cx="11052628" cy="12336530"/>
            </a:xfrm>
            <a:custGeom>
              <a:avLst/>
              <a:gdLst/>
              <a:ahLst/>
              <a:cxnLst/>
              <a:rect l="l" t="t" r="r" b="b"/>
              <a:pathLst>
                <a:path w="11052628" h="12336530">
                  <a:moveTo>
                    <a:pt x="8470700" y="974880"/>
                  </a:moveTo>
                  <a:cubicBezTo>
                    <a:pt x="6894630" y="-107160"/>
                    <a:pt x="5058210" y="-263370"/>
                    <a:pt x="3431340" y="381790"/>
                  </a:cubicBezTo>
                  <a:cubicBezTo>
                    <a:pt x="2298500" y="821210"/>
                    <a:pt x="1263450" y="1829590"/>
                    <a:pt x="633530" y="3274850"/>
                  </a:cubicBezTo>
                  <a:cubicBezTo>
                    <a:pt x="-142440" y="5052850"/>
                    <a:pt x="-233880" y="7481090"/>
                    <a:pt x="516690" y="9281950"/>
                  </a:cubicBezTo>
                  <a:cubicBezTo>
                    <a:pt x="1050090" y="10560840"/>
                    <a:pt x="1953060" y="11449840"/>
                    <a:pt x="2925880" y="11903230"/>
                  </a:cubicBezTo>
                  <a:cubicBezTo>
                    <a:pt x="3898700" y="12356620"/>
                    <a:pt x="4941370" y="12404880"/>
                    <a:pt x="5957370" y="12271530"/>
                  </a:cubicBezTo>
                  <a:cubicBezTo>
                    <a:pt x="7062270" y="12126750"/>
                    <a:pt x="8177330" y="11758450"/>
                    <a:pt x="9124750" y="10908820"/>
                  </a:cubicBezTo>
                  <a:cubicBezTo>
                    <a:pt x="10072170" y="10059190"/>
                    <a:pt x="10836710" y="8673620"/>
                    <a:pt x="11013240" y="7064530"/>
                  </a:cubicBezTo>
                  <a:cubicBezTo>
                    <a:pt x="11292640" y="4539770"/>
                    <a:pt x="10048040" y="2056920"/>
                    <a:pt x="8470700" y="974880"/>
                  </a:cubicBezTo>
                  <a:close/>
                </a:path>
              </a:pathLst>
            </a:custGeom>
            <a:blipFill>
              <a:blip r:embed="rId5"/>
              <a:stretch>
                <a:fillRect l="-1395" t="-1039" r="-10220" b="10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080776" y="1005897"/>
            <a:ext cx="4178524" cy="3782924"/>
            <a:chOff x="0" y="0"/>
            <a:chExt cx="5580380" cy="5052060"/>
          </a:xfrm>
        </p:grpSpPr>
        <p:sp>
          <p:nvSpPr>
            <p:cNvPr id="11" name="Freeform 11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6"/>
              <a:stretch>
                <a:fillRect t="-5227" b="-522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655255" y="6456231"/>
            <a:ext cx="1000998" cy="681766"/>
            <a:chOff x="0" y="0"/>
            <a:chExt cx="596693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693" cy="406400"/>
            </a:xfrm>
            <a:custGeom>
              <a:avLst/>
              <a:gdLst/>
              <a:ahLst/>
              <a:cxnLst/>
              <a:rect l="l" t="t" r="r" b="b"/>
              <a:pathLst>
                <a:path w="596693" h="406400">
                  <a:moveTo>
                    <a:pt x="393493" y="0"/>
                  </a:moveTo>
                  <a:cubicBezTo>
                    <a:pt x="505718" y="0"/>
                    <a:pt x="596693" y="90976"/>
                    <a:pt x="596693" y="203200"/>
                  </a:cubicBezTo>
                  <a:cubicBezTo>
                    <a:pt x="596693" y="315424"/>
                    <a:pt x="505718" y="406400"/>
                    <a:pt x="3934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solidFill>
                <a:srgbClr val="3E291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596693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4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896034" y="6604468"/>
            <a:ext cx="578301" cy="385293"/>
          </a:xfrm>
          <a:custGeom>
            <a:avLst/>
            <a:gdLst/>
            <a:ahLst/>
            <a:cxnLst/>
            <a:rect l="l" t="t" r="r" b="b"/>
            <a:pathLst>
              <a:path w="578301" h="385293">
                <a:moveTo>
                  <a:pt x="0" y="0"/>
                </a:moveTo>
                <a:lnTo>
                  <a:pt x="578300" y="0"/>
                </a:lnTo>
                <a:lnTo>
                  <a:pt x="578300" y="385292"/>
                </a:lnTo>
                <a:lnTo>
                  <a:pt x="0" y="385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62025" y="5031647"/>
            <a:ext cx="9754593" cy="3016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29"/>
              </a:lnSpc>
            </a:pPr>
            <a:r>
              <a:rPr lang="en-US" sz="8684" b="1">
                <a:solidFill>
                  <a:srgbClr val="3E291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Complete</a:t>
            </a:r>
          </a:p>
          <a:p>
            <a:pPr marL="0" lvl="0" indent="0" algn="l">
              <a:lnSpc>
                <a:spcPts val="7729"/>
              </a:lnSpc>
            </a:pPr>
            <a:r>
              <a:rPr lang="en-US" sz="8684" b="1">
                <a:solidFill>
                  <a:srgbClr val="3E291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Design Journey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123128"/>
            <a:ext cx="6562202" cy="121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4"/>
              </a:lnSpc>
            </a:pPr>
            <a:r>
              <a:rPr lang="en-US" sz="4197" dirty="0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Efficient Beekeeping &amp; Hive Box — Empathize to Field-Ready Prototype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93355" y="5365296"/>
            <a:ext cx="3343413" cy="89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4"/>
              </a:lnSpc>
            </a:pPr>
            <a:r>
              <a:rPr lang="en-US" sz="2065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Final Project Presentation · Design Thinking Lab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27625" y="8406310"/>
            <a:ext cx="1214270" cy="87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1"/>
              </a:lnSpc>
            </a:pPr>
            <a:r>
              <a:rPr lang="en-US" sz="7181" b="1" dirty="0">
                <a:solidFill>
                  <a:srgbClr val="3E291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83800" y="8345411"/>
            <a:ext cx="2204520" cy="39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5"/>
              </a:lnSpc>
            </a:pPr>
            <a:r>
              <a:rPr lang="en-US" sz="3197" b="1">
                <a:solidFill>
                  <a:srgbClr val="3E291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BeeHive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83800" y="8745170"/>
            <a:ext cx="2832490" cy="39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5"/>
              </a:lnSpc>
            </a:pPr>
            <a:r>
              <a:rPr lang="en-US" sz="3197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Design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3E291F"/>
                </a:solidFill>
                <a:latin typeface="Poppins"/>
              </a:rPr>
              <a:t>The Design Thinking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2834640"/>
            <a:ext cx="2999232" cy="51206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56816" y="3291840"/>
            <a:ext cx="1097280" cy="109728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6816" y="3291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3E291F"/>
                </a:solidFill>
                <a:latin typeface="Poppins"/>
              </a:rPr>
              <a:t>Empathize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394960"/>
            <a:ext cx="245059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B5B47"/>
                </a:solidFill>
                <a:latin typeface="Poppins"/>
              </a:rPr>
              <a:t>Interviews, surveys &amp; field research with beekeepers, societies and beginners.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6492" y="352044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C8862B"/>
                </a:solidFill>
                <a:latin typeface="Poppin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834640"/>
            <a:ext cx="2999232" cy="51206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76088" y="3291840"/>
            <a:ext cx="1097280" cy="109728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3291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466344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3E291F"/>
                </a:solidFill>
                <a:latin typeface="Poppins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5394960"/>
            <a:ext cx="245059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B5B47"/>
                </a:solidFill>
                <a:latin typeface="Poppins"/>
              </a:rPr>
              <a:t>Synthesised the pains into one sharp, user-centred problem statement.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5764" y="352044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C8862B"/>
                </a:solidFill>
                <a:latin typeface="Poppin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4" y="2834640"/>
            <a:ext cx="2999232" cy="51206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95360" y="3291840"/>
            <a:ext cx="1097280" cy="109728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3291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66344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3E291F"/>
                </a:solidFill>
                <a:latin typeface="Poppins"/>
              </a:rPr>
              <a:t>Ideate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5394960"/>
            <a:ext cx="245059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B5B47"/>
                </a:solidFill>
                <a:latin typeface="Poppins"/>
              </a:rPr>
              <a:t>Brainstormed and scored concepts against user needs and a ₹4,000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5036" y="352044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C8862B"/>
                </a:solidFill>
                <a:latin typeface="Poppin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63656" y="2834640"/>
            <a:ext cx="2999232" cy="51206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914632" y="3291840"/>
            <a:ext cx="1097280" cy="109728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914632" y="3291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6536" y="466344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3E291F"/>
                </a:solidFill>
                <a:latin typeface="Poppins"/>
              </a:rPr>
              <a:t>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7976" y="5394960"/>
            <a:ext cx="245059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B5B47"/>
                </a:solidFill>
                <a:latin typeface="Poppins"/>
              </a:rPr>
              <a:t>Interactive 3D visualiser plus a low-cost physical retrofit build.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4308" y="352044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C8862B"/>
                </a:solidFill>
                <a:latin typeface="Poppin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282928" y="2834640"/>
            <a:ext cx="2999232" cy="51206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5233904" y="3291840"/>
            <a:ext cx="1097280" cy="109728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233904" y="3291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65808" y="466344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3E291F"/>
                </a:solidFill>
                <a:latin typeface="Poppins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57248" y="5394960"/>
            <a:ext cx="245059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6B5B47"/>
                </a:solidFill>
                <a:latin typeface="Poppins"/>
              </a:rPr>
              <a:t>Usability, thermal and bee-behaviour validation with real beekeepers.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8856534" cy="8229600"/>
            <a:chOff x="0" y="0"/>
            <a:chExt cx="139036926" cy="60680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036921" cy="60680203"/>
            </a:xfrm>
            <a:custGeom>
              <a:avLst/>
              <a:gdLst/>
              <a:ahLst/>
              <a:cxnLst/>
              <a:rect l="l" t="t" r="r" b="b"/>
              <a:pathLst>
                <a:path w="139036921" h="60680203">
                  <a:moveTo>
                    <a:pt x="6980" y="0"/>
                  </a:moveTo>
                  <a:lnTo>
                    <a:pt x="139029939" y="0"/>
                  </a:lnTo>
                  <a:cubicBezTo>
                    <a:pt x="139033796" y="0"/>
                    <a:pt x="139036921" y="3125"/>
                    <a:pt x="139036921" y="6980"/>
                  </a:cubicBezTo>
                  <a:lnTo>
                    <a:pt x="139036921" y="60673221"/>
                  </a:lnTo>
                  <a:cubicBezTo>
                    <a:pt x="139036921" y="60677078"/>
                    <a:pt x="139033796" y="60680203"/>
                    <a:pt x="139029939" y="60680203"/>
                  </a:cubicBezTo>
                  <a:lnTo>
                    <a:pt x="6980" y="60680203"/>
                  </a:lnTo>
                  <a:cubicBezTo>
                    <a:pt x="3125" y="60680203"/>
                    <a:pt x="0" y="60677078"/>
                    <a:pt x="0" y="60673221"/>
                  </a:cubicBezTo>
                  <a:lnTo>
                    <a:pt x="0" y="6980"/>
                  </a:lnTo>
                  <a:cubicBezTo>
                    <a:pt x="0" y="3125"/>
                    <a:pt x="3125" y="0"/>
                    <a:pt x="6980" y="0"/>
                  </a:cubicBezTo>
                  <a:close/>
                </a:path>
              </a:pathLst>
            </a:custGeom>
            <a:blipFill>
              <a:blip r:embed="rId2"/>
              <a:stretch>
                <a:fillRect t="-15302" b="-153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79822" y="1666874"/>
            <a:ext cx="7758100" cy="6898947"/>
            <a:chOff x="0" y="0"/>
            <a:chExt cx="2043286" cy="18170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3286" cy="1817007"/>
            </a:xfrm>
            <a:custGeom>
              <a:avLst/>
              <a:gdLst/>
              <a:ahLst/>
              <a:cxnLst/>
              <a:rect l="l" t="t" r="r" b="b"/>
              <a:pathLst>
                <a:path w="2043286" h="1817007">
                  <a:moveTo>
                    <a:pt x="99791" y="0"/>
                  </a:moveTo>
                  <a:lnTo>
                    <a:pt x="1943494" y="0"/>
                  </a:lnTo>
                  <a:cubicBezTo>
                    <a:pt x="1969960" y="0"/>
                    <a:pt x="1995343" y="10514"/>
                    <a:pt x="2014057" y="29228"/>
                  </a:cubicBezTo>
                  <a:cubicBezTo>
                    <a:pt x="2032772" y="47943"/>
                    <a:pt x="2043286" y="73325"/>
                    <a:pt x="2043286" y="99791"/>
                  </a:cubicBezTo>
                  <a:lnTo>
                    <a:pt x="2043286" y="1717215"/>
                  </a:lnTo>
                  <a:cubicBezTo>
                    <a:pt x="2043286" y="1772329"/>
                    <a:pt x="1998607" y="1817007"/>
                    <a:pt x="1943494" y="1817007"/>
                  </a:cubicBezTo>
                  <a:lnTo>
                    <a:pt x="99791" y="1817007"/>
                  </a:lnTo>
                  <a:cubicBezTo>
                    <a:pt x="73325" y="1817007"/>
                    <a:pt x="47943" y="1806493"/>
                    <a:pt x="29228" y="1787778"/>
                  </a:cubicBezTo>
                  <a:cubicBezTo>
                    <a:pt x="10514" y="1769064"/>
                    <a:pt x="0" y="1743682"/>
                    <a:pt x="0" y="1717215"/>
                  </a:cubicBezTo>
                  <a:lnTo>
                    <a:pt x="0" y="99791"/>
                  </a:lnTo>
                  <a:cubicBezTo>
                    <a:pt x="0" y="73325"/>
                    <a:pt x="10514" y="47943"/>
                    <a:pt x="29228" y="29228"/>
                  </a:cubicBezTo>
                  <a:cubicBezTo>
                    <a:pt x="47943" y="10514"/>
                    <a:pt x="73325" y="0"/>
                    <a:pt x="99791" y="0"/>
                  </a:cubicBezTo>
                  <a:close/>
                </a:path>
              </a:pathLst>
            </a:custGeom>
            <a:solidFill>
              <a:srgbClr val="43301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043286" cy="1921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0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556959" y="3192417"/>
            <a:ext cx="5926253" cy="509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0"/>
              </a:lnSpc>
            </a:pPr>
            <a:r>
              <a:rPr lang="en-US" sz="345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Core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56959" y="4151080"/>
            <a:ext cx="5926253" cy="28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Small-scale farmers fear bee stings and lack hive expertise.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hive inspection is risky, disruptive, and costly.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safer, simpler, low-cost inspection and maintenance solutions.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 constraint: Upgrade cost must stay under ₹4,000.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01 · EMPATHIZE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3E291F"/>
                </a:solidFill>
                <a:latin typeface="Poppins"/>
              </a:rPr>
              <a:t>Research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2880360"/>
            <a:ext cx="7635240" cy="612648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2880360"/>
            <a:ext cx="7635240" cy="86868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044952"/>
            <a:ext cx="7086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How We Researched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023360"/>
            <a:ext cx="6629400" cy="311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7 in-depth interviews — beekeepers, bee societies &amp; beginners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Google Form survey of beekeepers and honey consumers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Field observation and a hands-on bee training camp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Secondary research — Flow Hive, ISI standards, 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880360"/>
            <a:ext cx="7635240" cy="612648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64040" y="2880360"/>
            <a:ext cx="7635240" cy="86868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29800" y="3044952"/>
            <a:ext cx="7086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4023360"/>
            <a:ext cx="6629400" cy="3566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Fear of stings is the biggest barrier to adoption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Inspection is reactive — hives opened only when a problem shows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Climate &amp; pests drive colony loss; monsoon is hardest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Knowledge gap — most rely on informal, inconsistent learning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Farmers want affordability over expensive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02 ·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Point of View &amp;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2926080"/>
            <a:ext cx="16276320" cy="2468880"/>
          </a:xfrm>
          <a:prstGeom prst="roundRect">
            <a:avLst/>
          </a:prstGeom>
          <a:solidFill>
            <a:srgbClr val="5A4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347473" cy="2468880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3154680"/>
            <a:ext cx="15453359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FFFFFF"/>
                </a:solidFill>
                <a:latin typeface="Poppins"/>
              </a:rPr>
              <a:t>“Small-scale Indian beekeepers need a safer, affordable and easy-to-use hive-management solution — because current methods are too risky, costly and technically demanding for everyday use.”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6276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C8862B"/>
                </a:solidFill>
                <a:latin typeface="Poppins"/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80760"/>
            <a:ext cx="1627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ECDBC2"/>
                </a:solidFill>
                <a:latin typeface="Poppins"/>
              </a:rPr>
              <a:t>Small farmers are underserved by beekeeping technology — existing solutions don’t match their budget, climate, skill level or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7680960"/>
            <a:ext cx="2916936" cy="77724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7680960"/>
            <a:ext cx="291693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E291F"/>
                </a:solidFill>
                <a:latin typeface="Poppins"/>
              </a:rPr>
              <a:t>Safer 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7680960"/>
            <a:ext cx="3218688" cy="77724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8536" y="7680960"/>
            <a:ext cx="321868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E291F"/>
                </a:solidFill>
                <a:latin typeface="Poppins"/>
              </a:rPr>
              <a:t>Affordable &amp;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4" y="7680960"/>
            <a:ext cx="4274820" cy="77724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72984" y="7680960"/>
            <a:ext cx="42748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E291F"/>
                </a:solidFill>
                <a:latin typeface="Poppins"/>
              </a:rPr>
              <a:t>Simple — no expert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13564" y="7680960"/>
            <a:ext cx="3671316" cy="77724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513564" y="7680960"/>
            <a:ext cx="367131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E291F"/>
                </a:solidFill>
                <a:latin typeface="Poppins"/>
              </a:rPr>
              <a:t>Works through monsoon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4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10304" y="2328816"/>
            <a:ext cx="5476481" cy="147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0"/>
              </a:lnSpc>
            </a:pPr>
            <a:r>
              <a:rPr lang="en-US" sz="34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IDEATE — FROM 3 "HOW MIGHT WE"s</a:t>
            </a:r>
          </a:p>
          <a:p>
            <a:pPr marL="0" lvl="0" indent="0" algn="l">
              <a:lnSpc>
                <a:spcPts val="3760"/>
              </a:lnSpc>
            </a:pPr>
            <a:r>
              <a:rPr lang="en-US" sz="34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THE TOP 6 CONCEPTS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10304" y="3843613"/>
            <a:ext cx="6148996" cy="3618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Acrylic Window with sliding cover for visual hive checks</a:t>
            </a:r>
          </a:p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Sugar Syrup Feeder with outside refill funnel</a:t>
            </a:r>
          </a:p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Clip-On Modular Super for hive expansion</a:t>
            </a:r>
          </a:p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Auto-Harvest Flow System with tilt pipe for honey extraction</a:t>
            </a:r>
          </a:p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Donut Water Ring for pest protection</a:t>
            </a:r>
          </a:p>
          <a:p>
            <a:pPr marL="375716" lvl="1" indent="-187858" algn="l">
              <a:lnSpc>
                <a:spcPts val="3671"/>
              </a:lnSpc>
              <a:buAutoNum type="arabicPeriod"/>
            </a:pPr>
            <a:r>
              <a:rPr lang="en-US" sz="17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Internal Thermal Insulation using coir/jute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5508638" y="1028700"/>
            <a:ext cx="14101689" cy="8229600"/>
            <a:chOff x="0" y="0"/>
            <a:chExt cx="103977512" cy="606802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977511" cy="60680203"/>
            </a:xfrm>
            <a:custGeom>
              <a:avLst/>
              <a:gdLst/>
              <a:ahLst/>
              <a:cxnLst/>
              <a:rect l="l" t="t" r="r" b="b"/>
              <a:pathLst>
                <a:path w="103977511" h="60680203">
                  <a:moveTo>
                    <a:pt x="9333" y="0"/>
                  </a:moveTo>
                  <a:lnTo>
                    <a:pt x="103968178" y="0"/>
                  </a:lnTo>
                  <a:cubicBezTo>
                    <a:pt x="103970652" y="0"/>
                    <a:pt x="103973027" y="983"/>
                    <a:pt x="103974776" y="2734"/>
                  </a:cubicBezTo>
                  <a:cubicBezTo>
                    <a:pt x="103976525" y="4484"/>
                    <a:pt x="103977511" y="6858"/>
                    <a:pt x="103977511" y="9333"/>
                  </a:cubicBezTo>
                  <a:lnTo>
                    <a:pt x="103977511" y="60670870"/>
                  </a:lnTo>
                  <a:cubicBezTo>
                    <a:pt x="103977511" y="60673345"/>
                    <a:pt x="103976525" y="60675720"/>
                    <a:pt x="103974776" y="60677468"/>
                  </a:cubicBezTo>
                  <a:cubicBezTo>
                    <a:pt x="103973027" y="60679217"/>
                    <a:pt x="103970652" y="60680203"/>
                    <a:pt x="103968178" y="60680203"/>
                  </a:cubicBezTo>
                  <a:lnTo>
                    <a:pt x="9333" y="60680203"/>
                  </a:lnTo>
                  <a:cubicBezTo>
                    <a:pt x="6858" y="60680203"/>
                    <a:pt x="4484" y="60679217"/>
                    <a:pt x="2734" y="60677468"/>
                  </a:cubicBezTo>
                  <a:cubicBezTo>
                    <a:pt x="983" y="60675720"/>
                    <a:pt x="0" y="60673345"/>
                    <a:pt x="0" y="60670870"/>
                  </a:cubicBezTo>
                  <a:lnTo>
                    <a:pt x="0" y="9333"/>
                  </a:lnTo>
                  <a:cubicBezTo>
                    <a:pt x="0" y="6858"/>
                    <a:pt x="983" y="4484"/>
                    <a:pt x="2734" y="2734"/>
                  </a:cubicBezTo>
                  <a:cubicBezTo>
                    <a:pt x="4484" y="983"/>
                    <a:pt x="6858" y="0"/>
                    <a:pt x="9333" y="0"/>
                  </a:cubicBezTo>
                  <a:close/>
                </a:path>
              </a:pathLst>
            </a:custGeom>
            <a:blipFill>
              <a:blip r:embed="rId2"/>
              <a:stretch>
                <a:fillRect l="-1192" r="-119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824250" y="1028700"/>
            <a:ext cx="1913503" cy="8229600"/>
            <a:chOff x="0" y="0"/>
            <a:chExt cx="14109042" cy="606802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09043" cy="60680203"/>
            </a:xfrm>
            <a:custGeom>
              <a:avLst/>
              <a:gdLst/>
              <a:ahLst/>
              <a:cxnLst/>
              <a:rect l="l" t="t" r="r" b="b"/>
              <a:pathLst>
                <a:path w="14109043" h="60680203">
                  <a:moveTo>
                    <a:pt x="68781" y="0"/>
                  </a:moveTo>
                  <a:lnTo>
                    <a:pt x="14040262" y="0"/>
                  </a:lnTo>
                  <a:cubicBezTo>
                    <a:pt x="14058503" y="0"/>
                    <a:pt x="14075998" y="7247"/>
                    <a:pt x="14088897" y="20145"/>
                  </a:cubicBezTo>
                  <a:cubicBezTo>
                    <a:pt x="14101797" y="33044"/>
                    <a:pt x="14109043" y="50539"/>
                    <a:pt x="14109043" y="68781"/>
                  </a:cubicBezTo>
                  <a:lnTo>
                    <a:pt x="14109043" y="60611420"/>
                  </a:lnTo>
                  <a:cubicBezTo>
                    <a:pt x="14109043" y="60649408"/>
                    <a:pt x="14078249" y="60680203"/>
                    <a:pt x="14040262" y="60680203"/>
                  </a:cubicBezTo>
                  <a:lnTo>
                    <a:pt x="68781" y="60680203"/>
                  </a:lnTo>
                  <a:cubicBezTo>
                    <a:pt x="50539" y="60680203"/>
                    <a:pt x="33044" y="60672954"/>
                    <a:pt x="20145" y="60660056"/>
                  </a:cubicBezTo>
                  <a:cubicBezTo>
                    <a:pt x="7247" y="60647157"/>
                    <a:pt x="0" y="60629664"/>
                    <a:pt x="0" y="60611420"/>
                  </a:cubicBezTo>
                  <a:lnTo>
                    <a:pt x="0" y="68781"/>
                  </a:lnTo>
                  <a:cubicBezTo>
                    <a:pt x="0" y="50539"/>
                    <a:pt x="7247" y="33044"/>
                    <a:pt x="20145" y="20145"/>
                  </a:cubicBezTo>
                  <a:cubicBezTo>
                    <a:pt x="33044" y="7247"/>
                    <a:pt x="50539" y="0"/>
                    <a:pt x="68781" y="0"/>
                  </a:cubicBezTo>
                  <a:close/>
                </a:path>
              </a:pathLst>
            </a:custGeom>
            <a:blipFill>
              <a:blip r:embed="rId3"/>
              <a:stretch>
                <a:fillRect l="-72572" r="-7257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5504699" y="80229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606336" y="-133852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225" y="1028700"/>
            <a:ext cx="18856534" cy="8229600"/>
            <a:chOff x="0" y="0"/>
            <a:chExt cx="139036926" cy="60680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036921" cy="60680203"/>
            </a:xfrm>
            <a:custGeom>
              <a:avLst/>
              <a:gdLst/>
              <a:ahLst/>
              <a:cxnLst/>
              <a:rect l="l" t="t" r="r" b="b"/>
              <a:pathLst>
                <a:path w="139036921" h="60680203">
                  <a:moveTo>
                    <a:pt x="6980" y="0"/>
                  </a:moveTo>
                  <a:lnTo>
                    <a:pt x="139029939" y="0"/>
                  </a:lnTo>
                  <a:cubicBezTo>
                    <a:pt x="139033796" y="0"/>
                    <a:pt x="139036921" y="3125"/>
                    <a:pt x="139036921" y="6980"/>
                  </a:cubicBezTo>
                  <a:lnTo>
                    <a:pt x="139036921" y="60673221"/>
                  </a:lnTo>
                  <a:cubicBezTo>
                    <a:pt x="139036921" y="60677078"/>
                    <a:pt x="139033796" y="60680203"/>
                    <a:pt x="139029939" y="60680203"/>
                  </a:cubicBezTo>
                  <a:lnTo>
                    <a:pt x="6980" y="60680203"/>
                  </a:lnTo>
                  <a:cubicBezTo>
                    <a:pt x="3125" y="60680203"/>
                    <a:pt x="0" y="60677078"/>
                    <a:pt x="0" y="60673221"/>
                  </a:cubicBezTo>
                  <a:lnTo>
                    <a:pt x="0" y="6980"/>
                  </a:lnTo>
                  <a:cubicBezTo>
                    <a:pt x="0" y="3125"/>
                    <a:pt x="3125" y="0"/>
                    <a:pt x="6980" y="0"/>
                  </a:cubicBezTo>
                  <a:close/>
                </a:path>
              </a:pathLst>
            </a:custGeom>
            <a:blipFill>
              <a:blip r:embed="rId2"/>
              <a:stretch>
                <a:fillRect t="-15302" b="-153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146547" y="1666874"/>
            <a:ext cx="7758100" cy="6898947"/>
            <a:chOff x="0" y="0"/>
            <a:chExt cx="2043286" cy="18170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3286" cy="1817007"/>
            </a:xfrm>
            <a:custGeom>
              <a:avLst/>
              <a:gdLst/>
              <a:ahLst/>
              <a:cxnLst/>
              <a:rect l="l" t="t" r="r" b="b"/>
              <a:pathLst>
                <a:path w="2043286" h="1817007">
                  <a:moveTo>
                    <a:pt x="26944" y="0"/>
                  </a:moveTo>
                  <a:lnTo>
                    <a:pt x="2016342" y="0"/>
                  </a:lnTo>
                  <a:cubicBezTo>
                    <a:pt x="2023488" y="0"/>
                    <a:pt x="2030341" y="2839"/>
                    <a:pt x="2035394" y="7892"/>
                  </a:cubicBezTo>
                  <a:cubicBezTo>
                    <a:pt x="2040447" y="12945"/>
                    <a:pt x="2043286" y="19798"/>
                    <a:pt x="2043286" y="26944"/>
                  </a:cubicBezTo>
                  <a:lnTo>
                    <a:pt x="2043286" y="1790063"/>
                  </a:lnTo>
                  <a:cubicBezTo>
                    <a:pt x="2043286" y="1804944"/>
                    <a:pt x="2031223" y="1817007"/>
                    <a:pt x="2016342" y="1817007"/>
                  </a:cubicBezTo>
                  <a:lnTo>
                    <a:pt x="26944" y="1817007"/>
                  </a:lnTo>
                  <a:cubicBezTo>
                    <a:pt x="19798" y="1817007"/>
                    <a:pt x="12945" y="1814168"/>
                    <a:pt x="7892" y="1809115"/>
                  </a:cubicBezTo>
                  <a:cubicBezTo>
                    <a:pt x="2839" y="1804062"/>
                    <a:pt x="0" y="1797209"/>
                    <a:pt x="0" y="1790063"/>
                  </a:cubicBezTo>
                  <a:lnTo>
                    <a:pt x="0" y="26944"/>
                  </a:lnTo>
                  <a:cubicBezTo>
                    <a:pt x="0" y="19798"/>
                    <a:pt x="2839" y="12945"/>
                    <a:pt x="7892" y="7892"/>
                  </a:cubicBezTo>
                  <a:cubicBezTo>
                    <a:pt x="12945" y="2839"/>
                    <a:pt x="19798" y="0"/>
                    <a:pt x="26944" y="0"/>
                  </a:cubicBezTo>
                  <a:close/>
                </a:path>
              </a:pathLst>
            </a:custGeom>
            <a:solidFill>
              <a:srgbClr val="403C3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043286" cy="1921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0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246097" y="6745115"/>
            <a:ext cx="4269782" cy="4109702"/>
            <a:chOff x="30480" y="591820"/>
            <a:chExt cx="12736830" cy="12259310"/>
          </a:xfrm>
        </p:grpSpPr>
        <p:sp>
          <p:nvSpPr>
            <p:cNvPr id="8" name="Freeform 8"/>
            <p:cNvSpPr/>
            <p:nvPr/>
          </p:nvSpPr>
          <p:spPr>
            <a:xfrm>
              <a:off x="64261" y="240734"/>
              <a:ext cx="12517576" cy="11526913"/>
            </a:xfrm>
            <a:custGeom>
              <a:avLst/>
              <a:gdLst/>
              <a:ahLst/>
              <a:cxnLst/>
              <a:rect l="l" t="t" r="r" b="b"/>
              <a:pathLst>
                <a:path w="12517576" h="11526913">
                  <a:moveTo>
                    <a:pt x="11861039" y="4030276"/>
                  </a:moveTo>
                  <a:cubicBezTo>
                    <a:pt x="10754869" y="1880166"/>
                    <a:pt x="8526019" y="304096"/>
                    <a:pt x="6151119" y="56446"/>
                  </a:cubicBezTo>
                  <a:cubicBezTo>
                    <a:pt x="4213099" y="-240734"/>
                    <a:pt x="2938019" y="672396"/>
                    <a:pt x="1896619" y="1929696"/>
                  </a:cubicBezTo>
                  <a:cubicBezTo>
                    <a:pt x="855219" y="3186996"/>
                    <a:pt x="301499" y="4789736"/>
                    <a:pt x="77979" y="6406446"/>
                  </a:cubicBezTo>
                  <a:cubicBezTo>
                    <a:pt x="-40131" y="7259886"/>
                    <a:pt x="-64261" y="8165396"/>
                    <a:pt x="297689" y="8947716"/>
                  </a:cubicBezTo>
                  <a:cubicBezTo>
                    <a:pt x="756159" y="9939586"/>
                    <a:pt x="1758189" y="10570776"/>
                    <a:pt x="2777999" y="10963206"/>
                  </a:cubicBezTo>
                  <a:cubicBezTo>
                    <a:pt x="5521199" y="12018576"/>
                    <a:pt x="8889240" y="11609636"/>
                    <a:pt x="11024109" y="9587796"/>
                  </a:cubicBezTo>
                  <a:cubicBezTo>
                    <a:pt x="11692129" y="8955336"/>
                    <a:pt x="12239499" y="8162856"/>
                    <a:pt x="12435079" y="7263696"/>
                  </a:cubicBezTo>
                  <a:cubicBezTo>
                    <a:pt x="12672569" y="6172766"/>
                    <a:pt x="12371579" y="5023416"/>
                    <a:pt x="11861039" y="4030276"/>
                  </a:cubicBezTo>
                  <a:close/>
                </a:path>
              </a:pathLst>
            </a:custGeom>
            <a:blipFill>
              <a:blip r:embed="rId3"/>
              <a:stretch>
                <a:fillRect l="243" t="837" r="-243" b="-943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023684" y="3182892"/>
            <a:ext cx="5926253" cy="78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6"/>
              </a:lnSpc>
            </a:pPr>
            <a:r>
              <a:rPr lang="en-US" sz="271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WINNING SOLUTION: SAFE INSPECTION &amp; FEEDING UPGRADE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23684" y="4151080"/>
            <a:ext cx="5926253" cy="28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Acrylic window allows visual hive inspection without opening the lid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feeder enables syrup feeding without hive disruption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Retrofit design fits existing ₹2,500 wooden boxes affordably</a:t>
            </a:r>
          </a:p>
          <a:p>
            <a:pPr marL="0" lvl="0" indent="0" algn="l">
              <a:lnSpc>
                <a:spcPts val="2888"/>
              </a:lnSpc>
            </a:pPr>
            <a:r>
              <a:rPr lang="en-US" sz="1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Non-disruptive design preserves hive micro-climate and reduces sting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04 ·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3E291F"/>
                </a:solidFill>
                <a:latin typeface="Poppins"/>
              </a:rPr>
              <a:t>Design Realised — Safe Inspection &amp; Feeding Upgrade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2688" y="2807208"/>
            <a:ext cx="4718304" cy="3255264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rontview_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80360"/>
            <a:ext cx="45720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608075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B5B47"/>
                </a:solidFill>
                <a:latin typeface="Poppins"/>
              </a:rPr>
              <a:t>Full hive — ISI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2807208"/>
            <a:ext cx="4718304" cy="3255264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nspection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880360"/>
            <a:ext cx="45720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608075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B5B47"/>
                </a:solidFill>
                <a:latin typeface="Poppins"/>
              </a:rPr>
              <a:t>Acrylic inspection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82528" y="2807208"/>
            <a:ext cx="4718304" cy="3255264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ee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880360"/>
            <a:ext cx="4572000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08075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B5B47"/>
                </a:solidFill>
                <a:latin typeface="Poppins"/>
              </a:rPr>
              <a:t>External top feeder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81228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8862B"/>
                </a:solidFill>
                <a:latin typeface="Poppins"/>
              </a:rPr>
              <a:t>KEY UPGRADES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7269480"/>
            <a:ext cx="7955279" cy="73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Dual acrylic inspection windows (left + back) with sliding shutters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External top feeder — refill syrup without opening the hive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Flow-harvest frames: pipe → tap → ground collection 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7269480"/>
            <a:ext cx="8046720" cy="73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10 mm XPS internal insulation holds the 35°C brood micro-climate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Donut water-ring ant moat that doubles as a bee waterer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3E291F"/>
                </a:solidFill>
                <a:latin typeface="Poppins"/>
              </a:rPr>
              <a:t>•  Retrofits any standard ₹2,500 wooden box — no structural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9829800"/>
            <a:ext cx="1627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5B47"/>
                </a:solidFill>
                <a:latin typeface="Poppins"/>
              </a:rPr>
              <a:t>Interactive 3D visualiser built procedurally with Three.js (no external models).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04 ·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3E291F"/>
                </a:solidFill>
                <a:latin typeface="Poppins"/>
              </a:rPr>
              <a:t>Build Roadmap &amp; Iterations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2926080"/>
            <a:ext cx="3794760" cy="42062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3794760" cy="91440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11480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E291F"/>
                </a:solidFill>
                <a:latin typeface="Poppins"/>
              </a:rPr>
              <a:t>Paper / cardboard mock-up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3949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5B47"/>
                </a:solidFill>
                <a:latin typeface="Poppins"/>
              </a:rPr>
              <a:t>Validate layout &amp;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20" y="6355080"/>
            <a:ext cx="1828800" cy="548640"/>
          </a:xfrm>
          <a:prstGeom prst="round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88820" y="6355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926080"/>
            <a:ext cx="3794760" cy="42062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2926080"/>
            <a:ext cx="3794760" cy="91440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3108960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v0.2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11480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E291F"/>
                </a:solidFill>
                <a:latin typeface="Poppins"/>
              </a:rPr>
              <a:t>Foam-board + real acrylic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3949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5B47"/>
                </a:solidFill>
                <a:latin typeface="Poppins"/>
              </a:rPr>
              <a:t>Bee space, light leak, thermal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6355080"/>
            <a:ext cx="1828800" cy="548640"/>
          </a:xfrm>
          <a:prstGeom prst="roundRect">
            <a:avLst/>
          </a:prstGeom>
          <a:solidFill>
            <a:srgbClr val="6B5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9340" y="6355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In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926080"/>
            <a:ext cx="3794760" cy="42062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0" y="2926080"/>
            <a:ext cx="3794760" cy="91440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3108960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v0.3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11480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E291F"/>
                </a:solidFill>
                <a:latin typeface="Poppins"/>
              </a:rPr>
              <a:t>Full working unit (budget)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3949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5B47"/>
                </a:solidFill>
                <a:latin typeface="Poppins"/>
              </a:rPr>
              <a:t>End-to-end beekeeper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9860" y="6355080"/>
            <a:ext cx="1828800" cy="548640"/>
          </a:xfrm>
          <a:prstGeom prst="roundRect">
            <a:avLst/>
          </a:prstGeom>
          <a:solidFill>
            <a:srgbClr val="6B5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09860" y="6355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Planned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87400" y="2926080"/>
            <a:ext cx="3794760" cy="4206240"/>
          </a:xfrm>
          <a:prstGeom prst="round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3487400" y="2926080"/>
            <a:ext cx="3794760" cy="91440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487400" y="3108960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61720" y="411480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3E291F"/>
                </a:solidFill>
                <a:latin typeface="Poppins"/>
              </a:rPr>
              <a:t>Standard tier — ₹4,000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61720" y="53949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5B47"/>
                </a:solidFill>
                <a:latin typeface="Poppins"/>
              </a:rPr>
              <a:t>Final field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470380" y="6355080"/>
            <a:ext cx="1828800" cy="548640"/>
          </a:xfrm>
          <a:prstGeom prst="roundRect">
            <a:avLst/>
          </a:prstGeom>
          <a:solidFill>
            <a:srgbClr val="6B5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470380" y="6355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Planned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7680960"/>
            <a:ext cx="16276320" cy="1554480"/>
          </a:xfrm>
          <a:prstGeom prst="roundRect">
            <a:avLst/>
          </a:prstGeom>
          <a:solidFill>
            <a:srgbClr val="3E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786384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8862B"/>
                </a:solidFill>
                <a:latin typeface="Poppins"/>
              </a:rPr>
              <a:t>ALREADY IMPROVED THROUGH ITERATION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836676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ECDBC2"/>
                </a:solidFill>
                <a:latin typeface="Poppins"/>
              </a:rPr>
              <a:t>Added a mandatory 6.35 mm bee-space verification step  ·  changed the feeder float from synthetic foam to food-safe coir fibre.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05 ·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Usability Validation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2880360"/>
            <a:ext cx="685800" cy="68580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E291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8036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CDBC2"/>
                </a:solidFill>
                <a:latin typeface="Poppins"/>
              </a:rPr>
              <a:t>Installation usability — fit the module with hand tools, no hive opening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749039"/>
            <a:ext cx="685800" cy="68580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E291F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49039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CDBC2"/>
                </a:solidFill>
                <a:latin typeface="Poppins"/>
              </a:rPr>
              <a:t>Inspection window — answer 5 colony-status questions vs. ground truth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617720"/>
            <a:ext cx="685800" cy="68580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E291F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1772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CDBC2"/>
                </a:solidFill>
                <a:latin typeface="Poppins"/>
              </a:rPr>
              <a:t>Feeder usability — refill reservoir, confirm bees feeding, zero drowning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486400"/>
            <a:ext cx="685800" cy="68580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E291F"/>
                </a:solidFill>
                <a:latin typeface="Poppi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48640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CDBC2"/>
                </a:solidFill>
                <a:latin typeface="Poppins"/>
              </a:rPr>
              <a:t>Thermal &amp; structural — 5-day brood-temperature and condensation log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6355080"/>
            <a:ext cx="685800" cy="685800"/>
          </a:xfrm>
          <a:prstGeom prst="ellipse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63550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E291F"/>
                </a:solidFill>
                <a:latin typeface="Poppi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35508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CDBC2"/>
                </a:solidFill>
                <a:latin typeface="Poppins"/>
              </a:rPr>
              <a:t>Bee behaviour — guarding, fanning and propolis-sealing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0" y="2880360"/>
            <a:ext cx="6492240" cy="4343400"/>
          </a:xfrm>
          <a:prstGeom prst="roundRect">
            <a:avLst/>
          </a:prstGeom>
          <a:solidFill>
            <a:srgbClr val="5A4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0" y="310896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8862B"/>
                </a:solidFill>
                <a:latin typeface="Poppins"/>
              </a:rPr>
              <a:t>CRITICAL SUCCESS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3749039"/>
            <a:ext cx="5669280" cy="731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CDBC2"/>
                </a:solidFill>
                <a:latin typeface="Poppins"/>
              </a:rPr>
              <a:t>•  Zero hive openings during inspection &amp; feeding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CDBC2"/>
                </a:solidFill>
                <a:latin typeface="Poppins"/>
              </a:rPr>
              <a:t>•  Brood temperature held at 33–36°C for 5 days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CDBC2"/>
                </a:solidFill>
                <a:latin typeface="Poppins"/>
              </a:rPr>
              <a:t>•  Zero bee drowning in the feeder trough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CDBC2"/>
                </a:solidFill>
                <a:latin typeface="Poppins"/>
              </a:rPr>
              <a:t>•  Installation under 45 minutes with hand tools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CDBC2"/>
                </a:solidFill>
                <a:latin typeface="Poppins"/>
              </a:rPr>
              <a:t>•  Beekeeper satisfaction ≥ 4 /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781812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FFFFF"/>
                </a:solidFill>
                <a:latin typeface="Poppins"/>
              </a:rPr>
              <a:t>Participants: 3+ beekeepers across 2 test sites — partnering with the Karnataka Beekeepers’ Co-operative, Bengaluru.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72789" y="808610"/>
            <a:ext cx="13618987" cy="11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</a:pPr>
            <a:r>
              <a:rPr lang="en-US" sz="10096" dirty="0">
                <a:solidFill>
                  <a:srgbClr val="3E291F"/>
                </a:solidFill>
                <a:latin typeface="Open Sauce"/>
                <a:ea typeface="Open Sauce"/>
                <a:cs typeface="Open Sauce"/>
                <a:sym typeface="Open Sauce"/>
              </a:rPr>
              <a:t>Anticipated Impact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907446" y="1057744"/>
            <a:ext cx="1000998" cy="681766"/>
            <a:chOff x="0" y="0"/>
            <a:chExt cx="596693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6693" cy="406400"/>
            </a:xfrm>
            <a:custGeom>
              <a:avLst/>
              <a:gdLst/>
              <a:ahLst/>
              <a:cxnLst/>
              <a:rect l="l" t="t" r="r" b="b"/>
              <a:pathLst>
                <a:path w="596693" h="406400">
                  <a:moveTo>
                    <a:pt x="393493" y="0"/>
                  </a:moveTo>
                  <a:cubicBezTo>
                    <a:pt x="505718" y="0"/>
                    <a:pt x="596693" y="90976"/>
                    <a:pt x="596693" y="203200"/>
                  </a:cubicBezTo>
                  <a:cubicBezTo>
                    <a:pt x="596693" y="315424"/>
                    <a:pt x="505718" y="406400"/>
                    <a:pt x="3934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38100" cap="sq">
              <a:solidFill>
                <a:srgbClr val="3E291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96693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4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148224" y="1205981"/>
            <a:ext cx="578301" cy="385293"/>
          </a:xfrm>
          <a:custGeom>
            <a:avLst/>
            <a:gdLst/>
            <a:ahLst/>
            <a:cxnLst/>
            <a:rect l="l" t="t" r="r" b="b"/>
            <a:pathLst>
              <a:path w="578301" h="385293">
                <a:moveTo>
                  <a:pt x="0" y="0"/>
                </a:moveTo>
                <a:lnTo>
                  <a:pt x="578301" y="0"/>
                </a:lnTo>
                <a:lnTo>
                  <a:pt x="578301" y="385293"/>
                </a:lnTo>
                <a:lnTo>
                  <a:pt x="0" y="3852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85851" y="1942912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3"/>
                </a:lnTo>
                <a:lnTo>
                  <a:pt x="0" y="3947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6953" y="2506602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Efficiency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6219" y="3135994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97.5% Reduction in Inspection Time Turns a traditional 20-minute, high-prep inspection into a seamless 30-second visual check</a:t>
            </a:r>
          </a:p>
        </p:txBody>
      </p:sp>
      <p:sp>
        <p:nvSpPr>
          <p:cNvPr id="10" name="Freeform 10"/>
          <p:cNvSpPr/>
          <p:nvPr/>
        </p:nvSpPr>
        <p:spPr>
          <a:xfrm>
            <a:off x="7544329" y="2436715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45431" y="3000405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 &amp; Usability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4697" y="3629798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Elimination of Routine Gear Completely eliminates the need to wear heavy, hot protective suits or use smoke for standard visual checks and feeding.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249839" y="3796436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250941" y="4360126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Mitigation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80207" y="4989518"/>
            <a:ext cx="3008106" cy="21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₹2,000 Asset Protection External feeding prevents dry-season starvation, directly saving the farmer the ₹1,500 – ₹2,000 cost of replacing a dead bee colony.</a:t>
            </a:r>
          </a:p>
        </p:txBody>
      </p:sp>
      <p:sp>
        <p:nvSpPr>
          <p:cNvPr id="16" name="Freeform 16"/>
          <p:cNvSpPr/>
          <p:nvPr/>
        </p:nvSpPr>
        <p:spPr>
          <a:xfrm>
            <a:off x="3668421" y="5476499"/>
            <a:ext cx="3875908" cy="3947684"/>
          </a:xfrm>
          <a:custGeom>
            <a:avLst/>
            <a:gdLst/>
            <a:ahLst/>
            <a:cxnLst/>
            <a:rect l="l" t="t" r="r" b="b"/>
            <a:pathLst>
              <a:path w="3875908" h="3947684">
                <a:moveTo>
                  <a:pt x="0" y="0"/>
                </a:moveTo>
                <a:lnTo>
                  <a:pt x="3875908" y="0"/>
                </a:lnTo>
                <a:lnTo>
                  <a:pt x="3875908" y="3947684"/>
                </a:lnTo>
                <a:lnTo>
                  <a:pt x="0" y="3947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669523" y="6040189"/>
            <a:ext cx="3445251" cy="47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Accessibility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98789" y="6669582"/>
            <a:ext cx="3008106" cy="249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80% Cost Savings vs. Redesign The modular upgrade costs &lt; ₹500, which is an 80% saving compared to forcing farmers to buy a completely new ₹2,500 wooden box.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418194" y="6021366"/>
            <a:ext cx="3831645" cy="3902601"/>
          </a:xfrm>
          <a:custGeom>
            <a:avLst/>
            <a:gdLst/>
            <a:ahLst/>
            <a:cxnLst/>
            <a:rect l="l" t="t" r="r" b="b"/>
            <a:pathLst>
              <a:path w="3831645" h="3902601">
                <a:moveTo>
                  <a:pt x="0" y="0"/>
                </a:moveTo>
                <a:lnTo>
                  <a:pt x="3831645" y="0"/>
                </a:lnTo>
                <a:lnTo>
                  <a:pt x="3831645" y="3902601"/>
                </a:lnTo>
                <a:lnTo>
                  <a:pt x="0" y="3902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419284" y="6568332"/>
            <a:ext cx="3405906" cy="48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Biological Productivity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45931" y="7190754"/>
            <a:ext cx="2973753" cy="21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spcBef>
                <a:spcPct val="0"/>
              </a:spcBef>
            </a:pPr>
            <a:r>
              <a:rPr lang="en-US" sz="20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~15-20% Projected Yield Increase Preserving the hive's 35°C internal micro-climate redirects bee energy from temperature regulation back into honey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B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6858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1627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3E291F"/>
                </a:solidFill>
                <a:latin typeface="Poppins"/>
              </a:rPr>
              <a:t>From Insight to a Field-Ready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920240"/>
            <a:ext cx="2011680" cy="82296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6276320" cy="130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3E291F"/>
                </a:solidFill>
                <a:latin typeface="Poppins"/>
              </a:rPr>
              <a:t>A design-thinking journey from empathy to engineering: real beekeeper research distilled into one sharp problem, then a sub-₹500 retrofit that turns a risky 20-minute hive inspection into a 30-second visual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754880"/>
            <a:ext cx="16276320" cy="18288"/>
          </a:xfrm>
          <a:prstGeom prst="rect">
            <a:avLst/>
          </a:prstGeom>
          <a:solidFill>
            <a:srgbClr val="C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1627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8862B"/>
                </a:solidFill>
                <a:latin typeface="Poppin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7955279" cy="791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Build the v0.2 / v0.3 physical prototype for field trials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Run the 5-session usability test with rural beekeepers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669280"/>
            <a:ext cx="8046720" cy="1114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Iterate on UV-tint clarity, shutter humidity &amp; propolis sealing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0" dirty="0">
                <a:solidFill>
                  <a:srgbClr val="3E291F"/>
                </a:solidFill>
                <a:latin typeface="Poppins"/>
              </a:rPr>
              <a:t>•  Explore low-cost distribution through beekeeping co-operatives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84034"/>
            <a:chOff x="0" y="0"/>
            <a:chExt cx="4844473" cy="2777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44473" cy="2777211"/>
            </a:xfrm>
            <a:custGeom>
              <a:avLst/>
              <a:gdLst/>
              <a:ahLst/>
              <a:cxnLst/>
              <a:rect l="l" t="t" r="r" b="b"/>
              <a:pathLst>
                <a:path w="4844473" h="2777211">
                  <a:moveTo>
                    <a:pt x="29633" y="0"/>
                  </a:moveTo>
                  <a:lnTo>
                    <a:pt x="4814840" y="0"/>
                  </a:lnTo>
                  <a:cubicBezTo>
                    <a:pt x="4831206" y="0"/>
                    <a:pt x="4844473" y="13267"/>
                    <a:pt x="4844473" y="29633"/>
                  </a:cubicBezTo>
                  <a:lnTo>
                    <a:pt x="4844473" y="2747577"/>
                  </a:lnTo>
                  <a:cubicBezTo>
                    <a:pt x="4844473" y="2755436"/>
                    <a:pt x="4841351" y="2762974"/>
                    <a:pt x="4835794" y="2768531"/>
                  </a:cubicBezTo>
                  <a:cubicBezTo>
                    <a:pt x="4830237" y="2774088"/>
                    <a:pt x="4822699" y="2777211"/>
                    <a:pt x="4814840" y="2777211"/>
                  </a:cubicBezTo>
                  <a:lnTo>
                    <a:pt x="29633" y="2777211"/>
                  </a:lnTo>
                  <a:cubicBezTo>
                    <a:pt x="21774" y="2777211"/>
                    <a:pt x="14237" y="2774088"/>
                    <a:pt x="8679" y="2768531"/>
                  </a:cubicBezTo>
                  <a:cubicBezTo>
                    <a:pt x="3122" y="2762974"/>
                    <a:pt x="0" y="2755436"/>
                    <a:pt x="0" y="2747577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EFF3F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44473" cy="2805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997" y="431997"/>
            <a:ext cx="3015358" cy="1296000"/>
            <a:chOff x="0" y="0"/>
            <a:chExt cx="4020477" cy="172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20439" cy="1727962"/>
            </a:xfrm>
            <a:custGeom>
              <a:avLst/>
              <a:gdLst/>
              <a:ahLst/>
              <a:cxnLst/>
              <a:rect l="l" t="t" r="r" b="b"/>
              <a:pathLst>
                <a:path w="4020439" h="1727962">
                  <a:moveTo>
                    <a:pt x="0" y="0"/>
                  </a:moveTo>
                  <a:lnTo>
                    <a:pt x="4020439" y="0"/>
                  </a:lnTo>
                  <a:lnTo>
                    <a:pt x="4020439" y="1727962"/>
                  </a:lnTo>
                  <a:lnTo>
                    <a:pt x="0" y="1727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" r="-13" b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341368" y="431997"/>
            <a:ext cx="8917932" cy="9464400"/>
            <a:chOff x="0" y="0"/>
            <a:chExt cx="1389619" cy="1474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9619" cy="1474771"/>
            </a:xfrm>
            <a:custGeom>
              <a:avLst/>
              <a:gdLst/>
              <a:ahLst/>
              <a:cxnLst/>
              <a:rect l="l" t="t" r="r" b="b"/>
              <a:pathLst>
                <a:path w="1389619" h="1474771">
                  <a:moveTo>
                    <a:pt x="60769" y="0"/>
                  </a:moveTo>
                  <a:lnTo>
                    <a:pt x="1328850" y="0"/>
                  </a:lnTo>
                  <a:cubicBezTo>
                    <a:pt x="1344966" y="0"/>
                    <a:pt x="1360423" y="6402"/>
                    <a:pt x="1371820" y="17799"/>
                  </a:cubicBezTo>
                  <a:cubicBezTo>
                    <a:pt x="1383216" y="29195"/>
                    <a:pt x="1389619" y="44652"/>
                    <a:pt x="1389619" y="60769"/>
                  </a:cubicBezTo>
                  <a:lnTo>
                    <a:pt x="1389619" y="1414002"/>
                  </a:lnTo>
                  <a:cubicBezTo>
                    <a:pt x="1389619" y="1447564"/>
                    <a:pt x="1362411" y="1474771"/>
                    <a:pt x="1328850" y="1474771"/>
                  </a:cubicBezTo>
                  <a:lnTo>
                    <a:pt x="60769" y="1474771"/>
                  </a:lnTo>
                  <a:cubicBezTo>
                    <a:pt x="27207" y="1474771"/>
                    <a:pt x="0" y="1447564"/>
                    <a:pt x="0" y="1414002"/>
                  </a:cubicBezTo>
                  <a:lnTo>
                    <a:pt x="0" y="60769"/>
                  </a:lnTo>
                  <a:cubicBezTo>
                    <a:pt x="0" y="27207"/>
                    <a:pt x="27207" y="0"/>
                    <a:pt x="60769" y="0"/>
                  </a:cubicBezTo>
                  <a:close/>
                </a:path>
              </a:pathLst>
            </a:custGeom>
            <a:blipFill>
              <a:blip r:embed="rId5"/>
              <a:stretch>
                <a:fillRect l="-3063" r="-306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967203" y="830351"/>
            <a:ext cx="3948103" cy="600351"/>
            <a:chOff x="0" y="0"/>
            <a:chExt cx="5264137" cy="8004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64150" cy="800481"/>
            </a:xfrm>
            <a:custGeom>
              <a:avLst/>
              <a:gdLst/>
              <a:ahLst/>
              <a:cxnLst/>
              <a:rect l="l" t="t" r="r" b="b"/>
              <a:pathLst>
                <a:path w="5264150" h="800481">
                  <a:moveTo>
                    <a:pt x="0" y="0"/>
                  </a:moveTo>
                  <a:lnTo>
                    <a:pt x="5264150" y="0"/>
                  </a:lnTo>
                  <a:lnTo>
                    <a:pt x="5264150" y="800481"/>
                  </a:lnTo>
                  <a:lnTo>
                    <a:pt x="0" y="80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" b="-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102166" y="5166772"/>
            <a:ext cx="7570679" cy="100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7"/>
              </a:lnSpc>
            </a:pPr>
            <a:r>
              <a:rPr lang="en-US" sz="7409" b="1">
                <a:solidFill>
                  <a:srgbClr val="1557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1020</Words>
  <Application>Microsoft Office PowerPoint</Application>
  <PresentationFormat>Custom</PresentationFormat>
  <Paragraphs>154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Open Sauce Heavy</vt:lpstr>
      <vt:lpstr>Calibri (MS) Bold</vt:lpstr>
      <vt:lpstr>Poppins Bold</vt:lpstr>
      <vt:lpstr>Calibri</vt:lpstr>
      <vt:lpstr>Poppins</vt:lpstr>
      <vt:lpstr>Arial</vt:lpstr>
      <vt:lpstr>Times New Roman Bold</vt:lpstr>
      <vt:lpstr>Bricolage Grotesque Bold</vt:lpstr>
      <vt:lpstr>Times New Roman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Inspection &amp; Feeding Upgrade Concept</dc:title>
  <cp:lastModifiedBy>Pavan Naik</cp:lastModifiedBy>
  <cp:revision>2</cp:revision>
  <dcterms:created xsi:type="dcterms:W3CDTF">2006-08-16T00:00:00Z</dcterms:created>
  <dcterms:modified xsi:type="dcterms:W3CDTF">2026-07-13T16:06:28Z</dcterms:modified>
  <dc:identifier>DAHMLc0TgTI</dc:identifier>
</cp:coreProperties>
</file>