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Bricolage Grotesque Bold" panose="020B0604020202020204" charset="0"/>
      <p:regular r:id="rId14"/>
    </p:embeddedFont>
    <p:embeddedFont>
      <p:font typeface="Calibri (MS) Bold" panose="020B0604020202020204" charset="0"/>
      <p:regular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EC2E-B76F-9CD3-11A4-9751A0DF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9D32CC-4930-0F9A-0B95-A56F15FDA2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B9002-3BC2-CF84-E184-1A6F7172267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2613850-F0EC-51F8-55D1-49BD2D66B8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23DC30D-BD16-9AC7-6ED3-28DF2C207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143F2-B801-BFD0-7F0B-C944FAC355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26F9D-C9F1-B80B-4CB9-1C03B9B36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30352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926428" y="9460106"/>
            <a:ext cx="4435145" cy="674503"/>
            <a:chOff x="0" y="0"/>
            <a:chExt cx="5913526" cy="8993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13501" cy="899287"/>
            </a:xfrm>
            <a:custGeom>
              <a:avLst/>
              <a:gdLst/>
              <a:ahLst/>
              <a:cxnLst/>
              <a:rect l="l" t="t" r="r" b="b"/>
              <a:pathLst>
                <a:path w="5913501" h="899287">
                  <a:moveTo>
                    <a:pt x="0" y="0"/>
                  </a:moveTo>
                  <a:lnTo>
                    <a:pt x="5913501" y="0"/>
                  </a:lnTo>
                  <a:lnTo>
                    <a:pt x="5913501" y="899287"/>
                  </a:lnTo>
                  <a:lnTo>
                    <a:pt x="0" y="899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" b="-7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930403" y="1621107"/>
            <a:ext cx="13652497" cy="778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Master of Computer Applications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12444" y="2583771"/>
            <a:ext cx="13220700" cy="65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058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Thinking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76631" y="3703906"/>
            <a:ext cx="8415569" cy="628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dirty="0">
                <a:solidFill>
                  <a:srgbClr val="00589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Efficient Beekeeping and Hive Box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58625" y="4796914"/>
            <a:ext cx="9970751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Pavan Mohan Naik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Sumanth Bhaskar Hegde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Pramath Prakash Hegde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7775" y="6816557"/>
            <a:ext cx="15792450" cy="251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</a:p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Dr. Mohan Aradhya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</a:p>
          <a:p>
            <a:pPr algn="ctr">
              <a:lnSpc>
                <a:spcPts val="3840"/>
              </a:lnSpc>
            </a:pPr>
            <a:endParaRPr lang="en-US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3967203" y="830351"/>
            <a:ext cx="3948103" cy="600351"/>
            <a:chOff x="0" y="0"/>
            <a:chExt cx="5264137" cy="8004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" b="-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475946" y="2221526"/>
            <a:ext cx="7336107" cy="6435066"/>
            <a:chOff x="0" y="0"/>
            <a:chExt cx="9781476" cy="8580088"/>
          </a:xfrm>
        </p:grpSpPr>
        <p:sp>
          <p:nvSpPr>
            <p:cNvPr id="8" name="TextBox 8"/>
            <p:cNvSpPr txBox="1"/>
            <p:nvPr/>
          </p:nvSpPr>
          <p:spPr>
            <a:xfrm>
              <a:off x="121920" y="1617313"/>
              <a:ext cx="8959091" cy="6962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79"/>
                </a:lnSpc>
              </a:pPr>
              <a:r>
                <a:rPr lang="en-US" sz="4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Stakeholder 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Assumptions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Current System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Context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Initial Persona 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Empathy Plan</a:t>
              </a:r>
              <a:r>
                <a:rPr lang="en-US" sz="48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9781476" cy="1323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79"/>
                </a:lnSpc>
              </a:pPr>
              <a:r>
                <a:rPr lang="en-US" sz="6399" b="1">
                  <a:solidFill>
                    <a:srgbClr val="00589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Contents: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3967203" y="830351"/>
            <a:ext cx="3948103" cy="600351"/>
            <a:chOff x="0" y="0"/>
            <a:chExt cx="5264137" cy="8004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" b="-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2391324" y="2100764"/>
            <a:ext cx="4867976" cy="6880531"/>
          </a:xfrm>
          <a:custGeom>
            <a:avLst/>
            <a:gdLst/>
            <a:ahLst/>
            <a:cxnLst/>
            <a:rect l="l" t="t" r="r" b="b"/>
            <a:pathLst>
              <a:path w="4867976" h="6880531">
                <a:moveTo>
                  <a:pt x="0" y="0"/>
                </a:moveTo>
                <a:lnTo>
                  <a:pt x="4867976" y="0"/>
                </a:lnTo>
                <a:lnTo>
                  <a:pt x="4867976" y="6880531"/>
                </a:lnTo>
                <a:lnTo>
                  <a:pt x="0" y="68805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04209" y="4161645"/>
            <a:ext cx="7106389" cy="421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face difficulty in adopting and maintaining beekeeping due to complex, risky, and inefficient traditional methods, leading to low adoption and missed opportunities for additional income and improved crop yield.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05599" y="2349194"/>
            <a:ext cx="670360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79"/>
              </a:lnSpc>
              <a:spcBef>
                <a:spcPct val="0"/>
              </a:spcBef>
            </a:pPr>
            <a:r>
              <a:rPr lang="en-US" sz="6399" b="1" u="none" strike="noStrike">
                <a:solidFill>
                  <a:srgbClr val="00589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3967203" y="830351"/>
            <a:ext cx="3948103" cy="600351"/>
            <a:chOff x="0" y="0"/>
            <a:chExt cx="5264137" cy="8004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" b="-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668884" y="3733800"/>
            <a:ext cx="4434633" cy="5524500"/>
            <a:chOff x="0" y="0"/>
            <a:chExt cx="1167969" cy="14550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67969" cy="1455012"/>
            </a:xfrm>
            <a:custGeom>
              <a:avLst/>
              <a:gdLst/>
              <a:ahLst/>
              <a:cxnLst/>
              <a:rect l="l" t="t" r="r" b="b"/>
              <a:pathLst>
                <a:path w="1167969" h="1455012">
                  <a:moveTo>
                    <a:pt x="89035" y="0"/>
                  </a:moveTo>
                  <a:lnTo>
                    <a:pt x="1078934" y="0"/>
                  </a:lnTo>
                  <a:cubicBezTo>
                    <a:pt x="1102548" y="0"/>
                    <a:pt x="1125194" y="9380"/>
                    <a:pt x="1141891" y="26078"/>
                  </a:cubicBezTo>
                  <a:cubicBezTo>
                    <a:pt x="1158589" y="42775"/>
                    <a:pt x="1167969" y="65422"/>
                    <a:pt x="1167969" y="89035"/>
                  </a:cubicBezTo>
                  <a:lnTo>
                    <a:pt x="1167969" y="1365977"/>
                  </a:lnTo>
                  <a:cubicBezTo>
                    <a:pt x="1167969" y="1389591"/>
                    <a:pt x="1158589" y="1412237"/>
                    <a:pt x="1141891" y="1428935"/>
                  </a:cubicBezTo>
                  <a:cubicBezTo>
                    <a:pt x="1125194" y="1445632"/>
                    <a:pt x="1102548" y="1455012"/>
                    <a:pt x="1078934" y="1455012"/>
                  </a:cubicBezTo>
                  <a:lnTo>
                    <a:pt x="89035" y="1455012"/>
                  </a:lnTo>
                  <a:cubicBezTo>
                    <a:pt x="65422" y="1455012"/>
                    <a:pt x="42775" y="1445632"/>
                    <a:pt x="26078" y="1428935"/>
                  </a:cubicBezTo>
                  <a:cubicBezTo>
                    <a:pt x="9380" y="1412237"/>
                    <a:pt x="0" y="1389591"/>
                    <a:pt x="0" y="1365977"/>
                  </a:cubicBezTo>
                  <a:lnTo>
                    <a:pt x="0" y="89035"/>
                  </a:lnTo>
                  <a:cubicBezTo>
                    <a:pt x="0" y="65422"/>
                    <a:pt x="9380" y="42775"/>
                    <a:pt x="26078" y="26078"/>
                  </a:cubicBezTo>
                  <a:cubicBezTo>
                    <a:pt x="42775" y="9380"/>
                    <a:pt x="65422" y="0"/>
                    <a:pt x="89035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67969" cy="1493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886099" y="1699422"/>
            <a:ext cx="4515803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79"/>
              </a:lnSpc>
              <a:spcBef>
                <a:spcPct val="0"/>
              </a:spcBef>
            </a:pPr>
            <a:r>
              <a:rPr lang="en-US" sz="6399" b="1" u="none" strike="noStrike">
                <a:solidFill>
                  <a:srgbClr val="00589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Stakeholders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926684" y="3733800"/>
            <a:ext cx="4434633" cy="5524500"/>
            <a:chOff x="0" y="0"/>
            <a:chExt cx="1167969" cy="14550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67969" cy="1455012"/>
            </a:xfrm>
            <a:custGeom>
              <a:avLst/>
              <a:gdLst/>
              <a:ahLst/>
              <a:cxnLst/>
              <a:rect l="l" t="t" r="r" b="b"/>
              <a:pathLst>
                <a:path w="1167969" h="1455012">
                  <a:moveTo>
                    <a:pt x="89035" y="0"/>
                  </a:moveTo>
                  <a:lnTo>
                    <a:pt x="1078934" y="0"/>
                  </a:lnTo>
                  <a:cubicBezTo>
                    <a:pt x="1102548" y="0"/>
                    <a:pt x="1125194" y="9380"/>
                    <a:pt x="1141891" y="26078"/>
                  </a:cubicBezTo>
                  <a:cubicBezTo>
                    <a:pt x="1158589" y="42775"/>
                    <a:pt x="1167969" y="65422"/>
                    <a:pt x="1167969" y="89035"/>
                  </a:cubicBezTo>
                  <a:lnTo>
                    <a:pt x="1167969" y="1365977"/>
                  </a:lnTo>
                  <a:cubicBezTo>
                    <a:pt x="1167969" y="1389591"/>
                    <a:pt x="1158589" y="1412237"/>
                    <a:pt x="1141891" y="1428935"/>
                  </a:cubicBezTo>
                  <a:cubicBezTo>
                    <a:pt x="1125194" y="1445632"/>
                    <a:pt x="1102548" y="1455012"/>
                    <a:pt x="1078934" y="1455012"/>
                  </a:cubicBezTo>
                  <a:lnTo>
                    <a:pt x="89035" y="1455012"/>
                  </a:lnTo>
                  <a:cubicBezTo>
                    <a:pt x="65422" y="1455012"/>
                    <a:pt x="42775" y="1445632"/>
                    <a:pt x="26078" y="1428935"/>
                  </a:cubicBezTo>
                  <a:cubicBezTo>
                    <a:pt x="9380" y="1412237"/>
                    <a:pt x="0" y="1389591"/>
                    <a:pt x="0" y="1365977"/>
                  </a:cubicBezTo>
                  <a:lnTo>
                    <a:pt x="0" y="89035"/>
                  </a:lnTo>
                  <a:cubicBezTo>
                    <a:pt x="0" y="65422"/>
                    <a:pt x="9380" y="42775"/>
                    <a:pt x="26078" y="26078"/>
                  </a:cubicBezTo>
                  <a:cubicBezTo>
                    <a:pt x="42775" y="9380"/>
                    <a:pt x="65422" y="0"/>
                    <a:pt x="89035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67969" cy="1493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84484" y="3733800"/>
            <a:ext cx="4434633" cy="5524500"/>
            <a:chOff x="0" y="0"/>
            <a:chExt cx="1167969" cy="14550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67969" cy="1455012"/>
            </a:xfrm>
            <a:custGeom>
              <a:avLst/>
              <a:gdLst/>
              <a:ahLst/>
              <a:cxnLst/>
              <a:rect l="l" t="t" r="r" b="b"/>
              <a:pathLst>
                <a:path w="1167969" h="1455012">
                  <a:moveTo>
                    <a:pt x="89035" y="0"/>
                  </a:moveTo>
                  <a:lnTo>
                    <a:pt x="1078934" y="0"/>
                  </a:lnTo>
                  <a:cubicBezTo>
                    <a:pt x="1102548" y="0"/>
                    <a:pt x="1125194" y="9380"/>
                    <a:pt x="1141891" y="26078"/>
                  </a:cubicBezTo>
                  <a:cubicBezTo>
                    <a:pt x="1158589" y="42775"/>
                    <a:pt x="1167969" y="65422"/>
                    <a:pt x="1167969" y="89035"/>
                  </a:cubicBezTo>
                  <a:lnTo>
                    <a:pt x="1167969" y="1365977"/>
                  </a:lnTo>
                  <a:cubicBezTo>
                    <a:pt x="1167969" y="1389591"/>
                    <a:pt x="1158589" y="1412237"/>
                    <a:pt x="1141891" y="1428935"/>
                  </a:cubicBezTo>
                  <a:cubicBezTo>
                    <a:pt x="1125194" y="1445632"/>
                    <a:pt x="1102548" y="1455012"/>
                    <a:pt x="1078934" y="1455012"/>
                  </a:cubicBezTo>
                  <a:lnTo>
                    <a:pt x="89035" y="1455012"/>
                  </a:lnTo>
                  <a:cubicBezTo>
                    <a:pt x="65422" y="1455012"/>
                    <a:pt x="42775" y="1445632"/>
                    <a:pt x="26078" y="1428935"/>
                  </a:cubicBezTo>
                  <a:cubicBezTo>
                    <a:pt x="9380" y="1412237"/>
                    <a:pt x="0" y="1389591"/>
                    <a:pt x="0" y="1365977"/>
                  </a:cubicBezTo>
                  <a:lnTo>
                    <a:pt x="0" y="89035"/>
                  </a:lnTo>
                  <a:cubicBezTo>
                    <a:pt x="0" y="65422"/>
                    <a:pt x="9380" y="42775"/>
                    <a:pt x="26078" y="26078"/>
                  </a:cubicBezTo>
                  <a:cubicBezTo>
                    <a:pt x="42775" y="9380"/>
                    <a:pt x="65422" y="0"/>
                    <a:pt x="89035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67969" cy="1493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271553" y="4104290"/>
            <a:ext cx="2351603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7"/>
              </a:lnSpc>
              <a:spcBef>
                <a:spcPct val="0"/>
              </a:spcBef>
            </a:pPr>
            <a:r>
              <a:rPr lang="en-US" sz="47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Primary </a:t>
            </a:r>
          </a:p>
        </p:txBody>
      </p:sp>
      <p:sp>
        <p:nvSpPr>
          <p:cNvPr id="18" name="AutoShape 18"/>
          <p:cNvSpPr/>
          <p:nvPr/>
        </p:nvSpPr>
        <p:spPr>
          <a:xfrm>
            <a:off x="2110097" y="5143500"/>
            <a:ext cx="3445721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668884" y="5305425"/>
            <a:ext cx="3685104" cy="162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38" lvl="1" indent="-496569" algn="l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</a:t>
            </a:r>
          </a:p>
          <a:p>
            <a:pPr marL="993138" lvl="1" indent="-496569" algn="l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Beekeepers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926684" y="3733800"/>
            <a:ext cx="4434633" cy="5524500"/>
            <a:chOff x="0" y="0"/>
            <a:chExt cx="1167969" cy="14550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67969" cy="1455012"/>
            </a:xfrm>
            <a:custGeom>
              <a:avLst/>
              <a:gdLst/>
              <a:ahLst/>
              <a:cxnLst/>
              <a:rect l="l" t="t" r="r" b="b"/>
              <a:pathLst>
                <a:path w="1167969" h="1455012">
                  <a:moveTo>
                    <a:pt x="89035" y="0"/>
                  </a:moveTo>
                  <a:lnTo>
                    <a:pt x="1078934" y="0"/>
                  </a:lnTo>
                  <a:cubicBezTo>
                    <a:pt x="1102548" y="0"/>
                    <a:pt x="1125194" y="9380"/>
                    <a:pt x="1141891" y="26078"/>
                  </a:cubicBezTo>
                  <a:cubicBezTo>
                    <a:pt x="1158589" y="42775"/>
                    <a:pt x="1167969" y="65422"/>
                    <a:pt x="1167969" y="89035"/>
                  </a:cubicBezTo>
                  <a:lnTo>
                    <a:pt x="1167969" y="1365977"/>
                  </a:lnTo>
                  <a:cubicBezTo>
                    <a:pt x="1167969" y="1389591"/>
                    <a:pt x="1158589" y="1412237"/>
                    <a:pt x="1141891" y="1428935"/>
                  </a:cubicBezTo>
                  <a:cubicBezTo>
                    <a:pt x="1125194" y="1445632"/>
                    <a:pt x="1102548" y="1455012"/>
                    <a:pt x="1078934" y="1455012"/>
                  </a:cubicBezTo>
                  <a:lnTo>
                    <a:pt x="89035" y="1455012"/>
                  </a:lnTo>
                  <a:cubicBezTo>
                    <a:pt x="65422" y="1455012"/>
                    <a:pt x="42775" y="1445632"/>
                    <a:pt x="26078" y="1428935"/>
                  </a:cubicBezTo>
                  <a:cubicBezTo>
                    <a:pt x="9380" y="1412237"/>
                    <a:pt x="0" y="1389591"/>
                    <a:pt x="0" y="1365977"/>
                  </a:cubicBezTo>
                  <a:lnTo>
                    <a:pt x="0" y="89035"/>
                  </a:lnTo>
                  <a:cubicBezTo>
                    <a:pt x="0" y="65422"/>
                    <a:pt x="9380" y="42775"/>
                    <a:pt x="26078" y="26078"/>
                  </a:cubicBezTo>
                  <a:cubicBezTo>
                    <a:pt x="42775" y="9380"/>
                    <a:pt x="65422" y="0"/>
                    <a:pt x="89035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67969" cy="1493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398290" y="4105275"/>
            <a:ext cx="274189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7"/>
              </a:lnSpc>
              <a:spcBef>
                <a:spcPct val="0"/>
              </a:spcBef>
            </a:pPr>
            <a:r>
              <a:rPr lang="en-US" sz="47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Secondary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367897" y="5143500"/>
            <a:ext cx="3445721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6926684" y="5334000"/>
            <a:ext cx="4334010" cy="3257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3023" lvl="1" indent="-401511" algn="l">
              <a:lnSpc>
                <a:spcPts val="5207"/>
              </a:lnSpc>
              <a:buFont typeface="Arial"/>
              <a:buChar char="•"/>
            </a:pPr>
            <a:r>
              <a:rPr lang="en-US" sz="3719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Agricultural cooperatives</a:t>
            </a:r>
          </a:p>
          <a:p>
            <a:pPr marL="803023" lvl="1" indent="-401511" algn="l">
              <a:lnSpc>
                <a:spcPts val="5207"/>
              </a:lnSpc>
              <a:buFont typeface="Arial"/>
              <a:buChar char="•"/>
            </a:pPr>
            <a:r>
              <a:rPr lang="en-US" sz="3719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Honey buyers / distributors</a:t>
            </a:r>
          </a:p>
          <a:p>
            <a:pPr marL="803023" lvl="1" indent="-401511" algn="l">
              <a:lnSpc>
                <a:spcPts val="5207"/>
              </a:lnSpc>
              <a:buFont typeface="Arial"/>
              <a:buChar char="•"/>
            </a:pPr>
            <a:r>
              <a:rPr lang="en-US" sz="3719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markets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184484" y="3733800"/>
            <a:ext cx="4434633" cy="5524500"/>
            <a:chOff x="0" y="0"/>
            <a:chExt cx="1167969" cy="14550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67969" cy="1455012"/>
            </a:xfrm>
            <a:custGeom>
              <a:avLst/>
              <a:gdLst/>
              <a:ahLst/>
              <a:cxnLst/>
              <a:rect l="l" t="t" r="r" b="b"/>
              <a:pathLst>
                <a:path w="1167969" h="1455012">
                  <a:moveTo>
                    <a:pt x="89035" y="0"/>
                  </a:moveTo>
                  <a:lnTo>
                    <a:pt x="1078934" y="0"/>
                  </a:lnTo>
                  <a:cubicBezTo>
                    <a:pt x="1102548" y="0"/>
                    <a:pt x="1125194" y="9380"/>
                    <a:pt x="1141891" y="26078"/>
                  </a:cubicBezTo>
                  <a:cubicBezTo>
                    <a:pt x="1158589" y="42775"/>
                    <a:pt x="1167969" y="65422"/>
                    <a:pt x="1167969" y="89035"/>
                  </a:cubicBezTo>
                  <a:lnTo>
                    <a:pt x="1167969" y="1365977"/>
                  </a:lnTo>
                  <a:cubicBezTo>
                    <a:pt x="1167969" y="1389591"/>
                    <a:pt x="1158589" y="1412237"/>
                    <a:pt x="1141891" y="1428935"/>
                  </a:cubicBezTo>
                  <a:cubicBezTo>
                    <a:pt x="1125194" y="1445632"/>
                    <a:pt x="1102548" y="1455012"/>
                    <a:pt x="1078934" y="1455012"/>
                  </a:cubicBezTo>
                  <a:lnTo>
                    <a:pt x="89035" y="1455012"/>
                  </a:lnTo>
                  <a:cubicBezTo>
                    <a:pt x="65422" y="1455012"/>
                    <a:pt x="42775" y="1445632"/>
                    <a:pt x="26078" y="1428935"/>
                  </a:cubicBezTo>
                  <a:cubicBezTo>
                    <a:pt x="9380" y="1412237"/>
                    <a:pt x="0" y="1389591"/>
                    <a:pt x="0" y="1365977"/>
                  </a:cubicBezTo>
                  <a:lnTo>
                    <a:pt x="0" y="89035"/>
                  </a:lnTo>
                  <a:cubicBezTo>
                    <a:pt x="0" y="65422"/>
                    <a:pt x="9380" y="42775"/>
                    <a:pt x="26078" y="26078"/>
                  </a:cubicBezTo>
                  <a:cubicBezTo>
                    <a:pt x="42775" y="9380"/>
                    <a:pt x="65422" y="0"/>
                    <a:pt x="89035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167969" cy="1493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780426" y="4105275"/>
            <a:ext cx="2098358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7"/>
              </a:lnSpc>
              <a:spcBef>
                <a:spcPct val="0"/>
              </a:spcBef>
            </a:pPr>
            <a:r>
              <a:rPr lang="en-US" sz="47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Indirect</a:t>
            </a:r>
          </a:p>
        </p:txBody>
      </p:sp>
      <p:sp>
        <p:nvSpPr>
          <p:cNvPr id="30" name="AutoShape 30"/>
          <p:cNvSpPr/>
          <p:nvPr/>
        </p:nvSpPr>
        <p:spPr>
          <a:xfrm>
            <a:off x="12625697" y="5143500"/>
            <a:ext cx="3445721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31"/>
          <p:cNvSpPr txBox="1"/>
          <p:nvPr/>
        </p:nvSpPr>
        <p:spPr>
          <a:xfrm>
            <a:off x="12184484" y="5343525"/>
            <a:ext cx="4434633" cy="391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119" lvl="1" indent="-342559" algn="l">
              <a:lnSpc>
                <a:spcPts val="4442"/>
              </a:lnSpc>
              <a:buFont typeface="Arial"/>
              <a:buChar char="•"/>
            </a:pPr>
            <a:r>
              <a:rPr lang="en-US" sz="3173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Consumers</a:t>
            </a:r>
          </a:p>
          <a:p>
            <a:pPr marL="685119" lvl="1" indent="-342559" algn="l">
              <a:lnSpc>
                <a:spcPts val="4442"/>
              </a:lnSpc>
              <a:buFont typeface="Arial"/>
              <a:buChar char="•"/>
            </a:pPr>
            <a:r>
              <a:rPr lang="en-US" sz="3173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agriculture departments</a:t>
            </a:r>
          </a:p>
          <a:p>
            <a:pPr marL="685119" lvl="1" indent="-342559" algn="l">
              <a:lnSpc>
                <a:spcPts val="4442"/>
              </a:lnSpc>
              <a:buFont typeface="Arial"/>
              <a:buChar char="•"/>
            </a:pPr>
            <a:r>
              <a:rPr lang="en-US" sz="3173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(pollination impact)</a:t>
            </a:r>
          </a:p>
          <a:p>
            <a:pPr algn="l">
              <a:lnSpc>
                <a:spcPts val="4442"/>
              </a:lnSpc>
            </a:pPr>
            <a:endParaRPr lang="en-US" sz="3173">
              <a:solidFill>
                <a:srgbClr val="5454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3967203" y="830351"/>
            <a:ext cx="3948103" cy="600351"/>
            <a:chOff x="0" y="0"/>
            <a:chExt cx="5264137" cy="8004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" b="-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2901790" y="1205174"/>
            <a:ext cx="1248441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79"/>
              </a:lnSpc>
              <a:spcBef>
                <a:spcPct val="0"/>
              </a:spcBef>
            </a:pPr>
            <a:r>
              <a:rPr lang="en-US" sz="6399" b="1" u="none" strike="noStrike">
                <a:solidFill>
                  <a:srgbClr val="00589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Assumptions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084017" y="2670026"/>
            <a:ext cx="6833618" cy="2918491"/>
            <a:chOff x="0" y="0"/>
            <a:chExt cx="1799801" cy="7686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99801" cy="768656"/>
            </a:xfrm>
            <a:custGeom>
              <a:avLst/>
              <a:gdLst/>
              <a:ahLst/>
              <a:cxnLst/>
              <a:rect l="l" t="t" r="r" b="b"/>
              <a:pathLst>
                <a:path w="1799801" h="768656">
                  <a:moveTo>
                    <a:pt x="79304" y="0"/>
                  </a:moveTo>
                  <a:lnTo>
                    <a:pt x="1720497" y="0"/>
                  </a:lnTo>
                  <a:cubicBezTo>
                    <a:pt x="1764295" y="0"/>
                    <a:pt x="1799801" y="35506"/>
                    <a:pt x="1799801" y="79304"/>
                  </a:cubicBezTo>
                  <a:lnTo>
                    <a:pt x="1799801" y="689352"/>
                  </a:lnTo>
                  <a:cubicBezTo>
                    <a:pt x="1799801" y="733150"/>
                    <a:pt x="1764295" y="768656"/>
                    <a:pt x="1720497" y="768656"/>
                  </a:cubicBezTo>
                  <a:lnTo>
                    <a:pt x="79304" y="768656"/>
                  </a:lnTo>
                  <a:cubicBezTo>
                    <a:pt x="35506" y="768656"/>
                    <a:pt x="0" y="733150"/>
                    <a:pt x="0" y="689352"/>
                  </a:cubicBezTo>
                  <a:lnTo>
                    <a:pt x="0" y="79304"/>
                  </a:lnTo>
                  <a:cubicBezTo>
                    <a:pt x="0" y="35506"/>
                    <a:pt x="35506" y="0"/>
                    <a:pt x="79304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799801" cy="825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70365" y="2670026"/>
            <a:ext cx="6833618" cy="2918491"/>
            <a:chOff x="0" y="0"/>
            <a:chExt cx="1799801" cy="7686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99801" cy="768656"/>
            </a:xfrm>
            <a:custGeom>
              <a:avLst/>
              <a:gdLst/>
              <a:ahLst/>
              <a:cxnLst/>
              <a:rect l="l" t="t" r="r" b="b"/>
              <a:pathLst>
                <a:path w="1799801" h="768656">
                  <a:moveTo>
                    <a:pt x="79304" y="0"/>
                  </a:moveTo>
                  <a:lnTo>
                    <a:pt x="1720497" y="0"/>
                  </a:lnTo>
                  <a:cubicBezTo>
                    <a:pt x="1764295" y="0"/>
                    <a:pt x="1799801" y="35506"/>
                    <a:pt x="1799801" y="79304"/>
                  </a:cubicBezTo>
                  <a:lnTo>
                    <a:pt x="1799801" y="689352"/>
                  </a:lnTo>
                  <a:cubicBezTo>
                    <a:pt x="1799801" y="733150"/>
                    <a:pt x="1764295" y="768656"/>
                    <a:pt x="1720497" y="768656"/>
                  </a:cubicBezTo>
                  <a:lnTo>
                    <a:pt x="79304" y="768656"/>
                  </a:lnTo>
                  <a:cubicBezTo>
                    <a:pt x="35506" y="768656"/>
                    <a:pt x="0" y="733150"/>
                    <a:pt x="0" y="689352"/>
                  </a:cubicBezTo>
                  <a:lnTo>
                    <a:pt x="0" y="79304"/>
                  </a:lnTo>
                  <a:cubicBezTo>
                    <a:pt x="0" y="35506"/>
                    <a:pt x="35506" y="0"/>
                    <a:pt x="79304" y="0"/>
                  </a:cubicBezTo>
                  <a:close/>
                </a:path>
              </a:pathLst>
            </a:custGeom>
            <a:solidFill>
              <a:srgbClr val="EFB73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799801" cy="825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84017" y="5992764"/>
            <a:ext cx="6833618" cy="2918491"/>
            <a:chOff x="0" y="0"/>
            <a:chExt cx="1799801" cy="7686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99801" cy="768656"/>
            </a:xfrm>
            <a:custGeom>
              <a:avLst/>
              <a:gdLst/>
              <a:ahLst/>
              <a:cxnLst/>
              <a:rect l="l" t="t" r="r" b="b"/>
              <a:pathLst>
                <a:path w="1799801" h="768656">
                  <a:moveTo>
                    <a:pt x="79304" y="0"/>
                  </a:moveTo>
                  <a:lnTo>
                    <a:pt x="1720497" y="0"/>
                  </a:lnTo>
                  <a:cubicBezTo>
                    <a:pt x="1764295" y="0"/>
                    <a:pt x="1799801" y="35506"/>
                    <a:pt x="1799801" y="79304"/>
                  </a:cubicBezTo>
                  <a:lnTo>
                    <a:pt x="1799801" y="689352"/>
                  </a:lnTo>
                  <a:cubicBezTo>
                    <a:pt x="1799801" y="733150"/>
                    <a:pt x="1764295" y="768656"/>
                    <a:pt x="1720497" y="768656"/>
                  </a:cubicBezTo>
                  <a:lnTo>
                    <a:pt x="79304" y="768656"/>
                  </a:lnTo>
                  <a:cubicBezTo>
                    <a:pt x="35506" y="768656"/>
                    <a:pt x="0" y="733150"/>
                    <a:pt x="0" y="689352"/>
                  </a:cubicBezTo>
                  <a:lnTo>
                    <a:pt x="0" y="79304"/>
                  </a:lnTo>
                  <a:cubicBezTo>
                    <a:pt x="0" y="35506"/>
                    <a:pt x="35506" y="0"/>
                    <a:pt x="79304" y="0"/>
                  </a:cubicBezTo>
                  <a:close/>
                </a:path>
              </a:pathLst>
            </a:custGeom>
            <a:solidFill>
              <a:srgbClr val="EFB73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799801" cy="825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70365" y="5992764"/>
            <a:ext cx="6833618" cy="2918491"/>
            <a:chOff x="0" y="0"/>
            <a:chExt cx="1799801" cy="7686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99801" cy="768656"/>
            </a:xfrm>
            <a:custGeom>
              <a:avLst/>
              <a:gdLst/>
              <a:ahLst/>
              <a:cxnLst/>
              <a:rect l="l" t="t" r="r" b="b"/>
              <a:pathLst>
                <a:path w="1799801" h="768656">
                  <a:moveTo>
                    <a:pt x="79304" y="0"/>
                  </a:moveTo>
                  <a:lnTo>
                    <a:pt x="1720497" y="0"/>
                  </a:lnTo>
                  <a:cubicBezTo>
                    <a:pt x="1764295" y="0"/>
                    <a:pt x="1799801" y="35506"/>
                    <a:pt x="1799801" y="79304"/>
                  </a:cubicBezTo>
                  <a:lnTo>
                    <a:pt x="1799801" y="689352"/>
                  </a:lnTo>
                  <a:cubicBezTo>
                    <a:pt x="1799801" y="733150"/>
                    <a:pt x="1764295" y="768656"/>
                    <a:pt x="1720497" y="768656"/>
                  </a:cubicBezTo>
                  <a:lnTo>
                    <a:pt x="79304" y="768656"/>
                  </a:lnTo>
                  <a:cubicBezTo>
                    <a:pt x="35506" y="768656"/>
                    <a:pt x="0" y="733150"/>
                    <a:pt x="0" y="689352"/>
                  </a:cubicBezTo>
                  <a:lnTo>
                    <a:pt x="0" y="79304"/>
                  </a:lnTo>
                  <a:cubicBezTo>
                    <a:pt x="0" y="35506"/>
                    <a:pt x="35506" y="0"/>
                    <a:pt x="79304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799801" cy="825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641928" y="3227733"/>
            <a:ext cx="5717797" cy="420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57"/>
              </a:lnSpc>
            </a:pPr>
            <a:r>
              <a:rPr lang="en-US" sz="2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ADDITIONAL INCOME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41928" y="3886342"/>
            <a:ext cx="5717797" cy="782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7"/>
              </a:lnSpc>
            </a:pPr>
            <a:r>
              <a:rPr lang="en-US" sz="21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seek supplementary revenue streams to improve their livelihoods and financial stability.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28275" y="3166093"/>
            <a:ext cx="5717797" cy="420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57"/>
              </a:lnSpc>
            </a:pPr>
            <a:r>
              <a:rPr lang="en-US" sz="2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PERCEIVED RISK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28275" y="3824703"/>
            <a:ext cx="5717797" cy="782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7"/>
              </a:lnSpc>
            </a:pPr>
            <a:r>
              <a:rPr lang="en-US" sz="21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Beekeeping is seen as difficult and dangerous, creating hesitation among potential adopters.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28275" y="6550471"/>
            <a:ext cx="5717797" cy="420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57"/>
              </a:lnSpc>
            </a:pPr>
            <a:r>
              <a:rPr lang="en-US" sz="2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LACK OF AWARENESS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28275" y="7209080"/>
            <a:ext cx="5717797" cy="782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7"/>
              </a:lnSpc>
            </a:pPr>
            <a:r>
              <a:rPr lang="en-US" sz="21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training and knowledge about beekeeping practices prevents farmers from starting.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41928" y="6359971"/>
            <a:ext cx="5717797" cy="801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57"/>
              </a:lnSpc>
            </a:pPr>
            <a:r>
              <a:rPr lang="en-US" sz="2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SIMPLICITY DRIVES ADOPTION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41928" y="7209080"/>
            <a:ext cx="5717797" cy="782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7"/>
              </a:lnSpc>
            </a:pPr>
            <a:r>
              <a:rPr lang="en-US" sz="21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Low-maintenance, simplified systems will significantly increase farmer participation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3967203" y="830351"/>
            <a:ext cx="3948103" cy="600351"/>
            <a:chOff x="0" y="0"/>
            <a:chExt cx="5264137" cy="8004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" b="-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1828426" y="3596556"/>
            <a:ext cx="5430874" cy="5487007"/>
          </a:xfrm>
          <a:custGeom>
            <a:avLst/>
            <a:gdLst/>
            <a:ahLst/>
            <a:cxnLst/>
            <a:rect l="l" t="t" r="r" b="b"/>
            <a:pathLst>
              <a:path w="5430874" h="5487007">
                <a:moveTo>
                  <a:pt x="0" y="0"/>
                </a:moveTo>
                <a:lnTo>
                  <a:pt x="5430874" y="0"/>
                </a:lnTo>
                <a:lnTo>
                  <a:pt x="5430874" y="5487007"/>
                </a:lnTo>
                <a:lnTo>
                  <a:pt x="0" y="54870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82972" y="7244557"/>
            <a:ext cx="6728204" cy="2059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057"/>
              </a:lnSpc>
            </a:pPr>
            <a:r>
              <a:rPr lang="en-US" sz="2898">
                <a:solidFill>
                  <a:srgbClr val="1557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High risk of bee stings</a:t>
            </a:r>
          </a:p>
          <a:p>
            <a:pPr marL="0" lvl="0" indent="0" algn="just">
              <a:lnSpc>
                <a:spcPts val="4057"/>
              </a:lnSpc>
            </a:pPr>
            <a:r>
              <a:rPr lang="en-US" sz="2898">
                <a:solidFill>
                  <a:srgbClr val="1557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Time-consuming process</a:t>
            </a:r>
          </a:p>
          <a:p>
            <a:pPr marL="0" lvl="0" indent="0" algn="just">
              <a:lnSpc>
                <a:spcPts val="4057"/>
              </a:lnSpc>
            </a:pPr>
            <a:r>
              <a:rPr lang="en-US" sz="2898">
                <a:solidFill>
                  <a:srgbClr val="1557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Colony disturbance stress</a:t>
            </a:r>
          </a:p>
          <a:p>
            <a:pPr marL="0" lvl="0" indent="0" algn="just">
              <a:lnSpc>
                <a:spcPts val="4057"/>
              </a:lnSpc>
            </a:pPr>
            <a:r>
              <a:rPr lang="en-US" sz="2898">
                <a:solidFill>
                  <a:srgbClr val="1557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Expertise and training needed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82972" y="1643779"/>
            <a:ext cx="14322056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79"/>
              </a:lnSpc>
              <a:spcBef>
                <a:spcPct val="0"/>
              </a:spcBef>
            </a:pPr>
            <a:r>
              <a:rPr lang="en-US" sz="6399" b="1" u="none" strike="noStrike">
                <a:solidFill>
                  <a:srgbClr val="00589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Current System: Traditional Beekeeping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2972" y="3994624"/>
            <a:ext cx="6728204" cy="2059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057"/>
              </a:lnSpc>
            </a:pPr>
            <a:r>
              <a:rPr lang="en-US" sz="2898">
                <a:solidFill>
                  <a:srgbClr val="1557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Opening the hive manually</a:t>
            </a:r>
          </a:p>
          <a:p>
            <a:pPr marL="0" lvl="0" indent="0" algn="just">
              <a:lnSpc>
                <a:spcPts val="4057"/>
              </a:lnSpc>
            </a:pPr>
            <a:r>
              <a:rPr lang="en-US" sz="2898">
                <a:solidFill>
                  <a:srgbClr val="1557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Using smoke to calm bees</a:t>
            </a:r>
          </a:p>
          <a:p>
            <a:pPr marL="0" lvl="0" indent="0" algn="just">
              <a:lnSpc>
                <a:spcPts val="4057"/>
              </a:lnSpc>
            </a:pPr>
            <a:r>
              <a:rPr lang="en-US" sz="2898">
                <a:solidFill>
                  <a:srgbClr val="1557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Manual honey extraction</a:t>
            </a:r>
          </a:p>
          <a:p>
            <a:pPr marL="0" lvl="0" indent="0" algn="just">
              <a:lnSpc>
                <a:spcPts val="4057"/>
              </a:lnSpc>
            </a:pPr>
            <a:r>
              <a:rPr lang="en-US" sz="2898">
                <a:solidFill>
                  <a:srgbClr val="15577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Wearing full protective gear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82972" y="3374359"/>
            <a:ext cx="6728204" cy="47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65"/>
              </a:lnSpc>
            </a:pPr>
            <a:r>
              <a:rPr lang="en-US" sz="3397" b="1">
                <a:solidFill>
                  <a:srgbClr val="012E4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PROCESS STEPS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2972" y="6624291"/>
            <a:ext cx="6728204" cy="47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65"/>
              </a:lnSpc>
            </a:pPr>
            <a:r>
              <a:rPr lang="en-US" sz="3397" b="1">
                <a:solidFill>
                  <a:srgbClr val="012E4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PAIN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3967203" y="830351"/>
            <a:ext cx="3948103" cy="600351"/>
            <a:chOff x="0" y="0"/>
            <a:chExt cx="5264137" cy="8004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" b="-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3399268" y="1834110"/>
            <a:ext cx="11333462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79"/>
              </a:lnSpc>
              <a:spcBef>
                <a:spcPct val="0"/>
              </a:spcBef>
            </a:pPr>
            <a:r>
              <a:rPr lang="en-US" sz="6399" b="1" u="none" strike="noStrike">
                <a:solidFill>
                  <a:srgbClr val="00589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 and Importance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86878" y="3505186"/>
            <a:ext cx="14818070" cy="3170493"/>
            <a:chOff x="0" y="0"/>
            <a:chExt cx="1367745" cy="2926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7745" cy="292645"/>
            </a:xfrm>
            <a:custGeom>
              <a:avLst/>
              <a:gdLst/>
              <a:ahLst/>
              <a:cxnLst/>
              <a:rect l="l" t="t" r="r" b="b"/>
              <a:pathLst>
                <a:path w="1367745" h="292645">
                  <a:moveTo>
                    <a:pt x="10204" y="0"/>
                  </a:moveTo>
                  <a:lnTo>
                    <a:pt x="1357541" y="0"/>
                  </a:lnTo>
                  <a:cubicBezTo>
                    <a:pt x="1360247" y="0"/>
                    <a:pt x="1362843" y="1075"/>
                    <a:pt x="1364757" y="2989"/>
                  </a:cubicBezTo>
                  <a:cubicBezTo>
                    <a:pt x="1366670" y="4902"/>
                    <a:pt x="1367745" y="7498"/>
                    <a:pt x="1367745" y="10204"/>
                  </a:cubicBezTo>
                  <a:lnTo>
                    <a:pt x="1367745" y="282440"/>
                  </a:lnTo>
                  <a:cubicBezTo>
                    <a:pt x="1367745" y="288076"/>
                    <a:pt x="1363177" y="292645"/>
                    <a:pt x="1357541" y="292645"/>
                  </a:cubicBezTo>
                  <a:lnTo>
                    <a:pt x="10204" y="292645"/>
                  </a:lnTo>
                  <a:cubicBezTo>
                    <a:pt x="7498" y="292645"/>
                    <a:pt x="4902" y="291569"/>
                    <a:pt x="2989" y="289656"/>
                  </a:cubicBezTo>
                  <a:cubicBezTo>
                    <a:pt x="1075" y="287742"/>
                    <a:pt x="0" y="285147"/>
                    <a:pt x="0" y="282440"/>
                  </a:cubicBezTo>
                  <a:lnTo>
                    <a:pt x="0" y="10204"/>
                  </a:lnTo>
                  <a:cubicBezTo>
                    <a:pt x="0" y="4569"/>
                    <a:pt x="4569" y="0"/>
                    <a:pt x="10204" y="0"/>
                  </a:cubicBezTo>
                  <a:close/>
                </a:path>
              </a:pathLst>
            </a:custGeom>
            <a:solidFill>
              <a:srgbClr val="FAE9D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367745" cy="3497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34965" y="6956571"/>
            <a:ext cx="14818070" cy="2479900"/>
            <a:chOff x="0" y="0"/>
            <a:chExt cx="1367745" cy="2289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7745" cy="228901"/>
            </a:xfrm>
            <a:custGeom>
              <a:avLst/>
              <a:gdLst/>
              <a:ahLst/>
              <a:cxnLst/>
              <a:rect l="l" t="t" r="r" b="b"/>
              <a:pathLst>
                <a:path w="1367745" h="228901">
                  <a:moveTo>
                    <a:pt x="10204" y="0"/>
                  </a:moveTo>
                  <a:lnTo>
                    <a:pt x="1357541" y="0"/>
                  </a:lnTo>
                  <a:cubicBezTo>
                    <a:pt x="1360247" y="0"/>
                    <a:pt x="1362843" y="1075"/>
                    <a:pt x="1364757" y="2989"/>
                  </a:cubicBezTo>
                  <a:cubicBezTo>
                    <a:pt x="1366670" y="4902"/>
                    <a:pt x="1367745" y="7498"/>
                    <a:pt x="1367745" y="10204"/>
                  </a:cubicBezTo>
                  <a:lnTo>
                    <a:pt x="1367745" y="218697"/>
                  </a:lnTo>
                  <a:cubicBezTo>
                    <a:pt x="1367745" y="224332"/>
                    <a:pt x="1363177" y="228901"/>
                    <a:pt x="1357541" y="228901"/>
                  </a:cubicBezTo>
                  <a:lnTo>
                    <a:pt x="10204" y="228901"/>
                  </a:lnTo>
                  <a:cubicBezTo>
                    <a:pt x="7498" y="228901"/>
                    <a:pt x="4902" y="227826"/>
                    <a:pt x="2989" y="225912"/>
                  </a:cubicBezTo>
                  <a:cubicBezTo>
                    <a:pt x="1075" y="223999"/>
                    <a:pt x="0" y="221403"/>
                    <a:pt x="0" y="218697"/>
                  </a:cubicBezTo>
                  <a:lnTo>
                    <a:pt x="0" y="10204"/>
                  </a:lnTo>
                  <a:cubicBezTo>
                    <a:pt x="0" y="4569"/>
                    <a:pt x="4569" y="0"/>
                    <a:pt x="10204" y="0"/>
                  </a:cubicBezTo>
                  <a:close/>
                </a:path>
              </a:pathLst>
            </a:custGeom>
            <a:solidFill>
              <a:srgbClr val="FAE9D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367745" cy="286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495130" y="4654344"/>
            <a:ext cx="952224" cy="978313"/>
          </a:xfrm>
          <a:custGeom>
            <a:avLst/>
            <a:gdLst/>
            <a:ahLst/>
            <a:cxnLst/>
            <a:rect l="l" t="t" r="r" b="b"/>
            <a:pathLst>
              <a:path w="952224" h="978313">
                <a:moveTo>
                  <a:pt x="0" y="0"/>
                </a:moveTo>
                <a:lnTo>
                  <a:pt x="952225" y="0"/>
                </a:lnTo>
                <a:lnTo>
                  <a:pt x="952225" y="978312"/>
                </a:lnTo>
                <a:lnTo>
                  <a:pt x="0" y="978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778512" y="3668470"/>
            <a:ext cx="12162742" cy="3146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07"/>
              </a:lnSpc>
            </a:pPr>
            <a:r>
              <a:rPr lang="en-US" sz="2546" b="1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Context:</a:t>
            </a:r>
          </a:p>
          <a:p>
            <a:pPr marL="549878" lvl="1" indent="-274939" algn="just">
              <a:lnSpc>
                <a:spcPts val="3107"/>
              </a:lnSpc>
              <a:buFont typeface="Arial"/>
              <a:buChar char="•"/>
            </a:pPr>
            <a:r>
              <a:rPr lang="en-US" sz="2546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Around 75% of global food crops depend (at least partly) on pollination (FAO)</a:t>
            </a:r>
          </a:p>
          <a:p>
            <a:pPr marL="549878" lvl="1" indent="-274939" algn="just">
              <a:lnSpc>
                <a:spcPts val="3107"/>
              </a:lnSpc>
              <a:buFont typeface="Arial"/>
              <a:buChar char="•"/>
            </a:pPr>
            <a:r>
              <a:rPr lang="en-US" sz="2546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Bee pollination can increase crop yields by 20–30%, especially in fruits, vegetables, and oilseeds</a:t>
            </a:r>
          </a:p>
          <a:p>
            <a:pPr marL="549878" lvl="1" indent="-274939" algn="just">
              <a:lnSpc>
                <a:spcPts val="3107"/>
              </a:lnSpc>
              <a:buFont typeface="Arial"/>
              <a:buChar char="•"/>
            </a:pPr>
            <a:r>
              <a:rPr lang="en-US" sz="2546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 is the 8th largest honey producer globally, yet scientific beekeeping adoption among small farmers is still limited</a:t>
            </a:r>
          </a:p>
          <a:p>
            <a:pPr marL="549878" lvl="1" indent="-274939" algn="just">
              <a:lnSpc>
                <a:spcPts val="3107"/>
              </a:lnSpc>
              <a:buFont typeface="Arial"/>
              <a:buChar char="•"/>
            </a:pPr>
            <a:r>
              <a:rPr lang="en-US" sz="2546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Beekeeping can increase farmer income by 15–25% through honey and related products</a:t>
            </a:r>
          </a:p>
          <a:p>
            <a:pPr marL="0" lvl="0" indent="0" algn="just">
              <a:lnSpc>
                <a:spcPts val="3107"/>
              </a:lnSpc>
            </a:pPr>
            <a:endParaRPr lang="en-US" sz="2546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778512" y="7209743"/>
            <a:ext cx="10725267" cy="198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31"/>
              </a:lnSpc>
            </a:pPr>
            <a:r>
              <a:rPr lang="en-US" sz="2746" b="1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Constraints:</a:t>
            </a:r>
          </a:p>
          <a:p>
            <a:pPr marL="593057" lvl="1" indent="-296528" algn="l">
              <a:lnSpc>
                <a:spcPts val="3131"/>
              </a:lnSpc>
              <a:buFont typeface="Arial"/>
              <a:buChar char="•"/>
            </a:pPr>
            <a:r>
              <a:rPr lang="en-US" sz="2746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Financial limitations and cost sensitivity among beekeepers</a:t>
            </a:r>
          </a:p>
          <a:p>
            <a:pPr marL="593057" lvl="1" indent="-296528" algn="l">
              <a:lnSpc>
                <a:spcPts val="3131"/>
              </a:lnSpc>
              <a:buFont typeface="Arial"/>
              <a:buChar char="•"/>
            </a:pPr>
            <a:r>
              <a:rPr lang="en-US" sz="2746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availability for training and hive maintenance</a:t>
            </a:r>
          </a:p>
          <a:p>
            <a:pPr marL="593057" lvl="1" indent="-296528" algn="l">
              <a:lnSpc>
                <a:spcPts val="3131"/>
              </a:lnSpc>
              <a:buFont typeface="Arial"/>
              <a:buChar char="•"/>
            </a:pPr>
            <a:r>
              <a:rPr lang="en-US" sz="2746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Regulatory frameworks and compliance requirements</a:t>
            </a:r>
          </a:p>
          <a:p>
            <a:pPr marL="593057" lvl="1" indent="-296528" algn="l">
              <a:lnSpc>
                <a:spcPts val="3131"/>
              </a:lnSpc>
              <a:buFont typeface="Arial"/>
              <a:buChar char="•"/>
            </a:pPr>
            <a:r>
              <a:rPr lang="en-US" sz="2746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Limited access to beekeeping technologies and extension services</a:t>
            </a:r>
          </a:p>
        </p:txBody>
      </p:sp>
      <p:sp>
        <p:nvSpPr>
          <p:cNvPr id="17" name="Freeform 17"/>
          <p:cNvSpPr/>
          <p:nvPr/>
        </p:nvSpPr>
        <p:spPr>
          <a:xfrm>
            <a:off x="2447043" y="7722798"/>
            <a:ext cx="952224" cy="978313"/>
          </a:xfrm>
          <a:custGeom>
            <a:avLst/>
            <a:gdLst/>
            <a:ahLst/>
            <a:cxnLst/>
            <a:rect l="l" t="t" r="r" b="b"/>
            <a:pathLst>
              <a:path w="952224" h="978313">
                <a:moveTo>
                  <a:pt x="0" y="0"/>
                </a:moveTo>
                <a:lnTo>
                  <a:pt x="952225" y="0"/>
                </a:lnTo>
                <a:lnTo>
                  <a:pt x="952225" y="978312"/>
                </a:lnTo>
                <a:lnTo>
                  <a:pt x="0" y="978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3967203" y="830351"/>
            <a:ext cx="3948103" cy="600351"/>
            <a:chOff x="0" y="0"/>
            <a:chExt cx="5264137" cy="8004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" b="-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764456" y="9205812"/>
            <a:ext cx="11234139" cy="52488"/>
            <a:chOff x="0" y="0"/>
            <a:chExt cx="635000" cy="2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2967"/>
            </a:xfrm>
            <a:custGeom>
              <a:avLst/>
              <a:gdLst/>
              <a:ahLst/>
              <a:cxnLst/>
              <a:rect l="l" t="t" r="r" b="b"/>
              <a:pathLst>
                <a:path w="635000" h="2967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EFB73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635000" cy="601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764456" y="4089937"/>
            <a:ext cx="8561341" cy="5821712"/>
          </a:xfrm>
          <a:custGeom>
            <a:avLst/>
            <a:gdLst/>
            <a:ahLst/>
            <a:cxnLst/>
            <a:rect l="l" t="t" r="r" b="b"/>
            <a:pathLst>
              <a:path w="8561341" h="5821712">
                <a:moveTo>
                  <a:pt x="0" y="0"/>
                </a:moveTo>
                <a:lnTo>
                  <a:pt x="8561341" y="0"/>
                </a:lnTo>
                <a:lnTo>
                  <a:pt x="8561341" y="5821711"/>
                </a:lnTo>
                <a:lnTo>
                  <a:pt x="0" y="5821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1681987" y="4278090"/>
            <a:ext cx="4633215" cy="4633215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130" y="0"/>
                    <a:pt x="0" y="1421130"/>
                    <a:pt x="0" y="3175000"/>
                  </a:cubicBezTo>
                  <a:lnTo>
                    <a:pt x="0" y="6350000"/>
                  </a:lnTo>
                  <a:lnTo>
                    <a:pt x="3175000" y="6350000"/>
                  </a:lnTo>
                  <a:cubicBezTo>
                    <a:pt x="4928870" y="6350000"/>
                    <a:pt x="6350000" y="4928870"/>
                    <a:pt x="6350000" y="3175000"/>
                  </a:cubicBezTo>
                  <a:cubicBezTo>
                    <a:pt x="6350000" y="1421130"/>
                    <a:pt x="4928870" y="0"/>
                    <a:pt x="3175000" y="0"/>
                  </a:cubicBezTo>
                  <a:close/>
                </a:path>
              </a:pathLst>
            </a:custGeom>
            <a:solidFill>
              <a:srgbClr val="EFB73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353169" y="392402"/>
              <a:ext cx="5643663" cy="5618536"/>
            </a:xfrm>
            <a:custGeom>
              <a:avLst/>
              <a:gdLst/>
              <a:ahLst/>
              <a:cxnLst/>
              <a:rect l="l" t="t" r="r" b="b"/>
              <a:pathLst>
                <a:path w="5643663" h="5618536">
                  <a:moveTo>
                    <a:pt x="2821831" y="28"/>
                  </a:moveTo>
                  <a:cubicBezTo>
                    <a:pt x="1815193" y="-4474"/>
                    <a:pt x="883090" y="529978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8"/>
                    <a:pt x="1815193" y="5623010"/>
                    <a:pt x="2821831" y="5618508"/>
                  </a:cubicBezTo>
                  <a:cubicBezTo>
                    <a:pt x="3828469" y="5623010"/>
                    <a:pt x="4760572" y="5088558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7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7"/>
              <a:stretch>
                <a:fillRect l="223" r="223" b="-3664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4538622" y="4949879"/>
            <a:ext cx="6284972" cy="4012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48"/>
              </a:lnSpc>
            </a:pPr>
            <a:r>
              <a:rPr lang="en-US" sz="2323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Harsha Maani</a:t>
            </a:r>
          </a:p>
          <a:p>
            <a:pPr marL="501654" lvl="1" indent="-250827" algn="just">
              <a:lnSpc>
                <a:spcPts val="2648"/>
              </a:lnSpc>
              <a:buFont typeface="Arial"/>
              <a:buChar char="•"/>
            </a:pPr>
            <a:r>
              <a:rPr lang="en-US" sz="2323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Small-scale farmer (1–2 acres)</a:t>
            </a:r>
          </a:p>
          <a:p>
            <a:pPr marL="501654" lvl="1" indent="-250827" algn="just">
              <a:lnSpc>
                <a:spcPts val="2648"/>
              </a:lnSpc>
              <a:buFont typeface="Arial"/>
              <a:buChar char="•"/>
            </a:pPr>
            <a:r>
              <a:rPr lang="en-US" sz="2323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Wants to increase income</a:t>
            </a:r>
          </a:p>
          <a:p>
            <a:pPr marL="501654" lvl="1" indent="-250827" algn="just">
              <a:lnSpc>
                <a:spcPts val="2648"/>
              </a:lnSpc>
              <a:buFont typeface="Arial"/>
              <a:buChar char="•"/>
            </a:pPr>
            <a:r>
              <a:rPr lang="en-US" sz="2323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limited time and resources</a:t>
            </a:r>
          </a:p>
          <a:p>
            <a:pPr marL="501654" lvl="1" indent="-250827" algn="just">
              <a:lnSpc>
                <a:spcPts val="2648"/>
              </a:lnSpc>
              <a:buFont typeface="Arial"/>
              <a:buChar char="•"/>
            </a:pPr>
            <a:r>
              <a:rPr lang="en-US" sz="2323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prior beekeeping experience</a:t>
            </a:r>
          </a:p>
          <a:p>
            <a:pPr algn="just">
              <a:lnSpc>
                <a:spcPts val="2648"/>
              </a:lnSpc>
            </a:pPr>
            <a:endParaRPr lang="en-US" sz="2323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648"/>
              </a:lnSpc>
            </a:pPr>
            <a:r>
              <a:rPr lang="en-US" sz="2323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Pain Points:</a:t>
            </a:r>
          </a:p>
          <a:p>
            <a:pPr marL="501654" lvl="1" indent="-250827" algn="just">
              <a:lnSpc>
                <a:spcPts val="2648"/>
              </a:lnSpc>
              <a:buFont typeface="Arial"/>
              <a:buChar char="•"/>
            </a:pPr>
            <a:r>
              <a:rPr lang="en-US" sz="2323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Fear of bees</a:t>
            </a:r>
          </a:p>
          <a:p>
            <a:pPr marL="501654" lvl="1" indent="-250827" algn="just">
              <a:lnSpc>
                <a:spcPts val="2648"/>
              </a:lnSpc>
              <a:buFont typeface="Arial"/>
              <a:buChar char="•"/>
            </a:pPr>
            <a:r>
              <a:rPr lang="en-US" sz="2323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knowledge</a:t>
            </a:r>
          </a:p>
          <a:p>
            <a:pPr marL="501654" lvl="1" indent="-250827" algn="just">
              <a:lnSpc>
                <a:spcPts val="2648"/>
              </a:lnSpc>
              <a:buFont typeface="Arial"/>
              <a:buChar char="•"/>
            </a:pPr>
            <a:r>
              <a:rPr lang="en-US" sz="2323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Complexity of current systems</a:t>
            </a:r>
          </a:p>
          <a:p>
            <a:pPr algn="just">
              <a:lnSpc>
                <a:spcPts val="2648"/>
              </a:lnSpc>
            </a:pPr>
            <a:endParaRPr lang="en-US" sz="2323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ts val="2648"/>
              </a:lnSpc>
            </a:pPr>
            <a:endParaRPr lang="en-US" sz="2323">
              <a:solidFill>
                <a:srgbClr val="1B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764456" y="1949746"/>
            <a:ext cx="13073588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79"/>
              </a:lnSpc>
              <a:spcBef>
                <a:spcPct val="0"/>
              </a:spcBef>
            </a:pPr>
            <a:r>
              <a:rPr lang="en-US" sz="6399" b="1" u="none" strike="noStrike">
                <a:solidFill>
                  <a:srgbClr val="00589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Initial Persona (Draft)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3967203" y="830351"/>
            <a:ext cx="3948103" cy="600351"/>
            <a:chOff x="0" y="0"/>
            <a:chExt cx="5264137" cy="8004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" b="-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6727767" y="6781583"/>
            <a:ext cx="3467716" cy="2773144"/>
          </a:xfrm>
          <a:custGeom>
            <a:avLst/>
            <a:gdLst/>
            <a:ahLst/>
            <a:cxnLst/>
            <a:rect l="l" t="t" r="r" b="b"/>
            <a:pathLst>
              <a:path w="3467716" h="2773144">
                <a:moveTo>
                  <a:pt x="0" y="0"/>
                </a:moveTo>
                <a:lnTo>
                  <a:pt x="3467716" y="0"/>
                </a:lnTo>
                <a:lnTo>
                  <a:pt x="3467716" y="2773144"/>
                </a:lnTo>
                <a:lnTo>
                  <a:pt x="0" y="27731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658093" y="4701615"/>
            <a:ext cx="3467716" cy="2773144"/>
          </a:xfrm>
          <a:custGeom>
            <a:avLst/>
            <a:gdLst/>
            <a:ahLst/>
            <a:cxnLst/>
            <a:rect l="l" t="t" r="r" b="b"/>
            <a:pathLst>
              <a:path w="3467716" h="2773144">
                <a:moveTo>
                  <a:pt x="0" y="0"/>
                </a:moveTo>
                <a:lnTo>
                  <a:pt x="3467716" y="0"/>
                </a:lnTo>
                <a:lnTo>
                  <a:pt x="3467716" y="2773144"/>
                </a:lnTo>
                <a:lnTo>
                  <a:pt x="0" y="27731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8830972" y="8857142"/>
            <a:ext cx="2817116" cy="2817116"/>
          </a:xfrm>
          <a:custGeom>
            <a:avLst/>
            <a:gdLst/>
            <a:ahLst/>
            <a:cxnLst/>
            <a:rect l="l" t="t" r="r" b="b"/>
            <a:pathLst>
              <a:path w="2817116" h="2817116">
                <a:moveTo>
                  <a:pt x="2817117" y="0"/>
                </a:moveTo>
                <a:lnTo>
                  <a:pt x="0" y="0"/>
                </a:lnTo>
                <a:lnTo>
                  <a:pt x="0" y="2817116"/>
                </a:lnTo>
                <a:lnTo>
                  <a:pt x="2817117" y="2817116"/>
                </a:lnTo>
                <a:lnTo>
                  <a:pt x="28171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601516" y="2620353"/>
            <a:ext cx="3467716" cy="2773144"/>
          </a:xfrm>
          <a:custGeom>
            <a:avLst/>
            <a:gdLst/>
            <a:ahLst/>
            <a:cxnLst/>
            <a:rect l="l" t="t" r="r" b="b"/>
            <a:pathLst>
              <a:path w="3467716" h="2773144">
                <a:moveTo>
                  <a:pt x="0" y="0"/>
                </a:moveTo>
                <a:lnTo>
                  <a:pt x="3467716" y="0"/>
                </a:lnTo>
                <a:lnTo>
                  <a:pt x="3467716" y="2773144"/>
                </a:lnTo>
                <a:lnTo>
                  <a:pt x="0" y="27731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>
            <a:off x="111634" y="782712"/>
            <a:ext cx="685276" cy="4382582"/>
          </a:xfrm>
          <a:custGeom>
            <a:avLst/>
            <a:gdLst/>
            <a:ahLst/>
            <a:cxnLst/>
            <a:rect l="l" t="t" r="r" b="b"/>
            <a:pathLst>
              <a:path w="685276" h="4382582">
                <a:moveTo>
                  <a:pt x="0" y="0"/>
                </a:moveTo>
                <a:lnTo>
                  <a:pt x="685277" y="0"/>
                </a:lnTo>
                <a:lnTo>
                  <a:pt x="685277" y="4382582"/>
                </a:lnTo>
                <a:lnTo>
                  <a:pt x="0" y="4382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9067" y="3138048"/>
            <a:ext cx="1430217" cy="143021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58F58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148225" y="5036768"/>
            <a:ext cx="1497165" cy="149716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B73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023571" y="7354891"/>
            <a:ext cx="1408312" cy="140831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6A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5385093" y="3548433"/>
            <a:ext cx="433893" cy="535938"/>
          </a:xfrm>
          <a:custGeom>
            <a:avLst/>
            <a:gdLst/>
            <a:ahLst/>
            <a:cxnLst/>
            <a:rect l="l" t="t" r="r" b="b"/>
            <a:pathLst>
              <a:path w="433893" h="535938">
                <a:moveTo>
                  <a:pt x="0" y="0"/>
                </a:moveTo>
                <a:lnTo>
                  <a:pt x="433893" y="0"/>
                </a:lnTo>
                <a:lnTo>
                  <a:pt x="433893" y="535938"/>
                </a:lnTo>
                <a:lnTo>
                  <a:pt x="0" y="5359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7624417" y="5463142"/>
            <a:ext cx="541001" cy="554810"/>
          </a:xfrm>
          <a:custGeom>
            <a:avLst/>
            <a:gdLst/>
            <a:ahLst/>
            <a:cxnLst/>
            <a:rect l="l" t="t" r="r" b="b"/>
            <a:pathLst>
              <a:path w="541001" h="554810">
                <a:moveTo>
                  <a:pt x="0" y="0"/>
                </a:moveTo>
                <a:lnTo>
                  <a:pt x="541001" y="0"/>
                </a:lnTo>
                <a:lnTo>
                  <a:pt x="541001" y="554810"/>
                </a:lnTo>
                <a:lnTo>
                  <a:pt x="0" y="5548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519952" y="7791559"/>
            <a:ext cx="514982" cy="557275"/>
          </a:xfrm>
          <a:custGeom>
            <a:avLst/>
            <a:gdLst/>
            <a:ahLst/>
            <a:cxnLst/>
            <a:rect l="l" t="t" r="r" b="b"/>
            <a:pathLst>
              <a:path w="514982" h="557275">
                <a:moveTo>
                  <a:pt x="0" y="0"/>
                </a:moveTo>
                <a:lnTo>
                  <a:pt x="514982" y="0"/>
                </a:lnTo>
                <a:lnTo>
                  <a:pt x="514982" y="557275"/>
                </a:lnTo>
                <a:lnTo>
                  <a:pt x="0" y="5572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63449" y="6920046"/>
            <a:ext cx="9065952" cy="155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59"/>
              </a:lnSpc>
            </a:pPr>
            <a:r>
              <a:rPr lang="en-US" sz="4399" b="1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Empathy Research</a:t>
            </a:r>
          </a:p>
          <a:p>
            <a:pPr marL="0" lvl="0" indent="0" algn="l">
              <a:lnSpc>
                <a:spcPts val="6159"/>
              </a:lnSpc>
            </a:pPr>
            <a:r>
              <a:rPr lang="en-US" sz="4399" b="1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97265" y="3071373"/>
            <a:ext cx="6308103" cy="47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5"/>
              </a:lnSpc>
            </a:pPr>
            <a:r>
              <a:rPr lang="en-US" sz="2697" b="1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Farmer Interviews &amp; Field Observation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97265" y="3612952"/>
            <a:ext cx="10987557" cy="70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3"/>
              </a:lnSpc>
            </a:pPr>
            <a:r>
              <a:rPr lang="en-US" sz="2016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 on-site visits to understand daily farming routines, observe current beekeeping practices, and gather firsthand insights.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7372" y="5108639"/>
            <a:ext cx="5093104" cy="49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2"/>
              </a:lnSpc>
            </a:pPr>
            <a:r>
              <a:rPr lang="en-US" sz="2823" b="1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Beekeeper Discussions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97372" y="5684649"/>
            <a:ext cx="8061928" cy="69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6"/>
              </a:lnSpc>
            </a:pPr>
            <a:r>
              <a:rPr lang="en-US" sz="1997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Interview experienced beekeepers to learn techniques, identify pain points, and understand what makes systems successful.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87773" y="7409014"/>
            <a:ext cx="4887968" cy="47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7"/>
              </a:lnSpc>
            </a:pPr>
            <a:r>
              <a:rPr lang="en-US" sz="2655" b="1">
                <a:solidFill>
                  <a:srgbClr val="1B1B1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Secondary Research &amp; Analysis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87773" y="7951970"/>
            <a:ext cx="7027533" cy="661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0"/>
              </a:lnSpc>
            </a:pPr>
            <a:r>
              <a:rPr lang="en-US" sz="1878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existing literature, case studies, and Flow Hive documentation to synthesize insights and validate findings.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967203" y="830351"/>
            <a:ext cx="3948103" cy="600351"/>
            <a:chOff x="0" y="0"/>
            <a:chExt cx="5264137" cy="8004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" b="-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5410200" y="1943100"/>
            <a:ext cx="7467600" cy="987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557"/>
              </a:lnSpc>
            </a:pPr>
            <a:r>
              <a:rPr lang="en-US" sz="7409" b="1" dirty="0">
                <a:solidFill>
                  <a:srgbClr val="155772"/>
                </a:solidFill>
                <a:latin typeface="Times New Roman" panose="02020603050405020304" pitchFamily="18" charset="0"/>
                <a:ea typeface="Bricolage Grotesque Bold"/>
                <a:cs typeface="Times New Roman" panose="02020603050405020304" pitchFamily="18" charset="0"/>
                <a:sym typeface="Bricolage Grotesque Bold"/>
              </a:rPr>
              <a:t>Sample Questions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F75DD8-3EC2-9FFE-252B-FA73C15014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314700"/>
            <a:ext cx="56388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A10B8-EAF5-5B33-7155-71E4F121B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10B667F-6A76-B0BD-F51E-DC043AB9403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BD10F85-F381-B01F-4A8C-0E2AF24B58F2}"/>
              </a:ext>
            </a:extLst>
          </p:cNvPr>
          <p:cNvGrpSpPr/>
          <p:nvPr/>
        </p:nvGrpSpPr>
        <p:grpSpPr>
          <a:xfrm>
            <a:off x="0" y="0"/>
            <a:ext cx="18288000" cy="10484034"/>
            <a:chOff x="0" y="0"/>
            <a:chExt cx="4844473" cy="277721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8272E3B-F6FA-8D10-7DA7-3C6C5C9CC2A6}"/>
                </a:ext>
              </a:extLst>
            </p:cNvPr>
            <p:cNvSpPr/>
            <p:nvPr/>
          </p:nvSpPr>
          <p:spPr>
            <a:xfrm>
              <a:off x="0" y="0"/>
              <a:ext cx="4844473" cy="2777211"/>
            </a:xfrm>
            <a:custGeom>
              <a:avLst/>
              <a:gdLst/>
              <a:ahLst/>
              <a:cxnLst/>
              <a:rect l="l" t="t" r="r" b="b"/>
              <a:pathLst>
                <a:path w="4844473" h="2777211">
                  <a:moveTo>
                    <a:pt x="29633" y="0"/>
                  </a:moveTo>
                  <a:lnTo>
                    <a:pt x="4814840" y="0"/>
                  </a:lnTo>
                  <a:cubicBezTo>
                    <a:pt x="4831206" y="0"/>
                    <a:pt x="4844473" y="13267"/>
                    <a:pt x="4844473" y="29633"/>
                  </a:cubicBezTo>
                  <a:lnTo>
                    <a:pt x="4844473" y="2747577"/>
                  </a:lnTo>
                  <a:cubicBezTo>
                    <a:pt x="4844473" y="2755436"/>
                    <a:pt x="4841351" y="2762974"/>
                    <a:pt x="4835794" y="2768531"/>
                  </a:cubicBezTo>
                  <a:cubicBezTo>
                    <a:pt x="4830237" y="2774088"/>
                    <a:pt x="4822699" y="2777211"/>
                    <a:pt x="4814840" y="2777211"/>
                  </a:cubicBezTo>
                  <a:lnTo>
                    <a:pt x="29633" y="2777211"/>
                  </a:lnTo>
                  <a:cubicBezTo>
                    <a:pt x="21774" y="2777211"/>
                    <a:pt x="14237" y="2774088"/>
                    <a:pt x="8679" y="2768531"/>
                  </a:cubicBezTo>
                  <a:cubicBezTo>
                    <a:pt x="3122" y="2762974"/>
                    <a:pt x="0" y="2755436"/>
                    <a:pt x="0" y="2747577"/>
                  </a:cubicBezTo>
                  <a:lnTo>
                    <a:pt x="0" y="29633"/>
                  </a:lnTo>
                  <a:cubicBezTo>
                    <a:pt x="0" y="21774"/>
                    <a:pt x="3122" y="14237"/>
                    <a:pt x="8679" y="8679"/>
                  </a:cubicBezTo>
                  <a:cubicBezTo>
                    <a:pt x="14237" y="3122"/>
                    <a:pt x="21774" y="0"/>
                    <a:pt x="29633" y="0"/>
                  </a:cubicBezTo>
                  <a:close/>
                </a:path>
              </a:pathLst>
            </a:custGeom>
            <a:solidFill>
              <a:srgbClr val="EFF3F7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206303D-8638-E1B4-6B22-1E7E58EB188E}"/>
                </a:ext>
              </a:extLst>
            </p:cNvPr>
            <p:cNvSpPr txBox="1"/>
            <p:nvPr/>
          </p:nvSpPr>
          <p:spPr>
            <a:xfrm>
              <a:off x="0" y="-28575"/>
              <a:ext cx="4844473" cy="2805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C7D65AA-57C9-313E-58BF-960B5081602B}"/>
              </a:ext>
            </a:extLst>
          </p:cNvPr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4CA8F30-0DC5-0994-2F64-2661D3B89E02}"/>
                </a:ext>
              </a:extLst>
            </p:cNvPr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0243B4B-0C68-16BC-5C91-6D1C9D656C04}"/>
              </a:ext>
            </a:extLst>
          </p:cNvPr>
          <p:cNvGrpSpPr/>
          <p:nvPr/>
        </p:nvGrpSpPr>
        <p:grpSpPr>
          <a:xfrm>
            <a:off x="8341368" y="431997"/>
            <a:ext cx="8917932" cy="9464400"/>
            <a:chOff x="0" y="0"/>
            <a:chExt cx="1389619" cy="147477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7AB77E2-72F6-A486-AB9F-901467444448}"/>
                </a:ext>
              </a:extLst>
            </p:cNvPr>
            <p:cNvSpPr/>
            <p:nvPr/>
          </p:nvSpPr>
          <p:spPr>
            <a:xfrm>
              <a:off x="0" y="0"/>
              <a:ext cx="1389619" cy="1474771"/>
            </a:xfrm>
            <a:custGeom>
              <a:avLst/>
              <a:gdLst/>
              <a:ahLst/>
              <a:cxnLst/>
              <a:rect l="l" t="t" r="r" b="b"/>
              <a:pathLst>
                <a:path w="1389619" h="1474771">
                  <a:moveTo>
                    <a:pt x="60769" y="0"/>
                  </a:moveTo>
                  <a:lnTo>
                    <a:pt x="1328850" y="0"/>
                  </a:lnTo>
                  <a:cubicBezTo>
                    <a:pt x="1344966" y="0"/>
                    <a:pt x="1360423" y="6402"/>
                    <a:pt x="1371820" y="17799"/>
                  </a:cubicBezTo>
                  <a:cubicBezTo>
                    <a:pt x="1383216" y="29195"/>
                    <a:pt x="1389619" y="44652"/>
                    <a:pt x="1389619" y="60769"/>
                  </a:cubicBezTo>
                  <a:lnTo>
                    <a:pt x="1389619" y="1414002"/>
                  </a:lnTo>
                  <a:cubicBezTo>
                    <a:pt x="1389619" y="1447564"/>
                    <a:pt x="1362411" y="1474771"/>
                    <a:pt x="1328850" y="1474771"/>
                  </a:cubicBezTo>
                  <a:lnTo>
                    <a:pt x="60769" y="1474771"/>
                  </a:lnTo>
                  <a:cubicBezTo>
                    <a:pt x="27207" y="1474771"/>
                    <a:pt x="0" y="1447564"/>
                    <a:pt x="0" y="1414002"/>
                  </a:cubicBezTo>
                  <a:lnTo>
                    <a:pt x="0" y="60769"/>
                  </a:lnTo>
                  <a:cubicBezTo>
                    <a:pt x="0" y="27207"/>
                    <a:pt x="27207" y="0"/>
                    <a:pt x="60769" y="0"/>
                  </a:cubicBezTo>
                  <a:close/>
                </a:path>
              </a:pathLst>
            </a:custGeom>
            <a:blipFill>
              <a:blip r:embed="rId5"/>
              <a:stretch>
                <a:fillRect l="-3063" r="-3063"/>
              </a:stretch>
            </a:blip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8CAE9DC-78E6-F07F-741C-977EA093A637}"/>
              </a:ext>
            </a:extLst>
          </p:cNvPr>
          <p:cNvGrpSpPr/>
          <p:nvPr/>
        </p:nvGrpSpPr>
        <p:grpSpPr>
          <a:xfrm>
            <a:off x="13967203" y="830351"/>
            <a:ext cx="3948103" cy="600351"/>
            <a:chOff x="0" y="0"/>
            <a:chExt cx="5264137" cy="800468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CE8720B-85BD-B871-E601-2C8D5309BB20}"/>
                </a:ext>
              </a:extLst>
            </p:cNvPr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" b="-6"/>
              </a:stretch>
            </a:blipFill>
          </p:spPr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B7B5E25-141E-CBBF-31F2-6374007888D9}"/>
              </a:ext>
            </a:extLst>
          </p:cNvPr>
          <p:cNvSpPr txBox="1"/>
          <p:nvPr/>
        </p:nvSpPr>
        <p:spPr>
          <a:xfrm>
            <a:off x="2102166" y="5166772"/>
            <a:ext cx="7570679" cy="100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57"/>
              </a:lnSpc>
            </a:pPr>
            <a:r>
              <a:rPr lang="en-US" sz="7409" b="1">
                <a:solidFill>
                  <a:srgbClr val="1557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42970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453</Words>
  <Application>Microsoft Office PowerPoint</Application>
  <PresentationFormat>Custom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Times New Roman</vt:lpstr>
      <vt:lpstr>Times New Roman Bold</vt:lpstr>
      <vt:lpstr>Calibri</vt:lpstr>
      <vt:lpstr>Bricolage Grotesque Bold</vt:lpstr>
      <vt:lpstr>Arial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Dt.pptx</dc:title>
  <cp:lastModifiedBy>Pavan Naik</cp:lastModifiedBy>
  <cp:revision>3</cp:revision>
  <dcterms:created xsi:type="dcterms:W3CDTF">2006-08-16T00:00:00Z</dcterms:created>
  <dcterms:modified xsi:type="dcterms:W3CDTF">2026-04-16T05:49:27Z</dcterms:modified>
  <dc:identifier>DAHG8K4TNzc</dc:identifier>
</cp:coreProperties>
</file>